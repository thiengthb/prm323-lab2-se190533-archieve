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(0:15):</a:t>
            </a:r>
          </a:p>
          <a:p>
            <a:r>
              <a:t>Em chào thầy. Nhóm 3 trình bày ứng dụng “Điểm danh buổi học”: một ứng dụng di động bổ trợ FAP, không thay FAP, cho giảng viên và sinh viên cơ sở TP.HCM. Link Figma và GitHub ở góc trái, thầy mở được ngay. Bài bắt đầu từ một buổi sáng của thầy Nam.</a:t>
            </a:r>
          </a:p>
          <a:p/>
          <a:p>
            <a:r>
              <a:t>NẾU ĐƯỢC HỎI:</a:t>
            </a:r>
          </a:p>
          <a:p>
            <a:r>
              <a:t>• Hai màn bên phải là khoảnh khắc chính của ứng dụng: thầy mở phiên QR trên TV lớp, sinh viên tự quét bằng điện thoại.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(1:15):</a:t>
            </a:r>
          </a:p>
          <a:p>
            <a:r>
              <a:t>Lý do thầy Nam cần ứng dụng là lý do thật lúc nhóm làm app: đề bài của GVHD và app điểm danh nhóm đang phát triển (D-19). Thầy Nam là nhân vật tổng hợp, có ngày dạy 3 đến 4 slot, mỗi lớp khoảng 30 bạn.</a:t>
            </a:r>
          </a:p>
          <a:p>
            <a:r>
              <a:t>[Chỉ ba nỗi đau ở thẻ trái] Một: đọc tên 30 bạn mất 6 đến 8 phút, và lặp lại ở mỗi slot. Hai: phải đứng trong phòng mới bắt đầu được, thầy bị gọi họp là cả lớp chờ. Ba: bỏ đọc tên là bỏ luôn lúc thầy nhìn mặt từng bạn, nên phải có cách khác bắt quét hộ.</a:t>
            </a:r>
          </a:p>
          <a:p>
            <a:r>
              <a:t>[Chỉ ba số] Thành công đo bằng ba điều: từ lúc QR đóng tới lúc xác nhận dưới 2 phút 30, mở được từ xa, và bắt được người quét hộ lúc đối chiếu. Ngưỡng là giả định, chưa đo với người thật.</a:t>
            </a:r>
          </a:p>
          <a:p>
            <a:r>
              <a:t>[Chỉ dải dưới hai thẻ] Mở từ xa thì có bị quét hộ không? QR chỉ hiện trên TV trong phòng, mã đổi mỗi 15 giây, và phiên chờ thầy tới đối chiếu, xác nhận rồi mới điền lên FAP.</a:t>
            </a:r>
          </a:p>
          <a:p>
            <a:r>
              <a:t>[Chuyển sang thẻ phải] Bảo Trâm là persona phụ: quét xong muốn thấy ngay mình được ghi nhận, bị ghi sai thì báo thầy trước 23:59. Ứng dụng bỏ bước đọc tên, không bỏ FAP: FAP vẫn là nơi lưu kết quả. Vậy ứng dụng cần những màn nào?</a:t>
            </a:r>
          </a:p>
          <a:p/>
          <a:p>
            <a:r>
              <a:t>NẾU ĐƯỢC HỎI:</a:t>
            </a:r>
          </a:p>
          <a:p>
            <a:r>
              <a:t>• “6 đến 8 phút lấy từ đâu?” Q08, bài báo của ĐH Sư phạm TP.HCM: lớp 30 sinh viên gọi tên mất 6–8 phút, quét QR 1–2 phút. Một lần đo, không đối chứng, ở trường khác; buổi thử prototype sẽ đo lại bằng TC-1.</a:t>
            </a:r>
          </a:p>
          <a:p>
            <a:r>
              <a:t>• “Vậy là điểm danh tự động?” Không hẳn. Lớp tự quét, nhưng thầy vẫn đối chiếu sĩ số và kiểm tra ngẫu nhiên 3 bạn, mất thêm khoảng 40 giây (D-21). Đổi 40 giây lấy vài phút đọc tên.</a:t>
            </a:r>
          </a:p>
          <a:p>
            <a:r>
              <a:t>• “Lý do này có từ nghiên cứu không?” Không, và em ghi thẳng: lý do chính đến từ đề GVHD và app thật (D-19, D-33). Nghiên cứu thêm lý do phụ: đáp nhỏ bị bỏ sót, quên sửa cho người đến muộn, lời báo sai lạc giữa email và Zalo.</a:t>
            </a:r>
          </a:p>
          <a:p>
            <a:r>
              <a:t>• Vì sao 2:30 không tính 5 phút QR mở? D-29: thầy giảng trong lúc lớp quét, nên chỉ đo phần thầy phải dừng lại.</a:t>
            </a:r>
          </a:p>
          <a:p>
            <a:r>
              <a:t>• “Phỏng vấn do AI đóng vai thì tin được tới đâu?” GVHD chấp nhận (D-05). Mọi dữ liệu ghi nhãn Simulated; phát hiện chỉ từ mô phỏng bị hạ xuống mức “Giả thuyết” (D-16).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(0:50):</a:t>
            </a:r>
          </a:p>
          <a:p>
            <a:r>
              <a:t>15 màn thật, không tính dialog và biến thể. Tài khoản quyết định vai trò ngay sau đăng nhập, và mỗi vai trò có đúng hai tab.</a:t>
            </a:r>
          </a:p>
          <a:p>
            <a:r>
              <a:t>Vì sao hai tab: việc của thầy Nam chia hai nhịp trong ngày. Đầu slot là điểm danh, đi sâu từ SC-02 tới SC-06. Giữa ngày là xử lý báo sai. Phía sinh viên chia đối xứng nên không phải học hai lần, theo Nielsen số 4. App desktop chiếu QR và extension điền FAP nằm ngoài phạm vi. Các màn này nối với nhau thành ba flow.</a:t>
            </a:r>
          </a:p>
          <a:p/>
          <a:p>
            <a:r>
              <a:t>NẾU ĐƯỢC HỎI:</a:t>
            </a:r>
          </a:p>
          <a:p>
            <a:r>
              <a:t>• Câu mẫu 1, “Nhu cầu nào của persona quyết định điều hướng?”: hai nhịp của thầy Nam (N-04, N-01), nên mỗi vai trò có đúng hai tab Hôm nay và Báo sai. Mở ux/persona.md, Figma trang 01.</a:t>
            </a:r>
          </a:p>
          <a:p>
            <a:r>
              <a:t>• SC-15 chỉ hướng dẫn đơn khiếu nại trên FAP, không làm lại quy trình đơn.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(1:00):</a:t>
            </a:r>
          </a:p>
          <a:p>
            <a:r>
              <a:t>[Chỉ làn FL-1] 7 giờ sáng, thầy Nam mở QR, cả lớp quét cùng lúc, thầy đóng QR, đếm người trong phòng, gọi ngẫu nhiên 3 bạn đối chiếu ảnh FAP, rồi xác nhận.</a:t>
            </a:r>
          </a:p>
          <a:p>
            <a:r>
              <a:t>[Chỉ ô vàng] Đây là bước dễ hỏng nhất: nó thêm khoảng 40 giây, và nếu thầy bỏ qua thì quét hộ lọt. Đường hồi phục là FL-3: sinh viên báo sai, thầy sửa trong ngày.</a:t>
            </a:r>
          </a:p>
          <a:p>
            <a:r>
              <a:t>[Chỉ các ô viền đỏ] Flow nào cũng có nhánh lỗi có đường ra: mã hết hạn thì quét lại, quá 23:59 thì hướng dẫn đơn trên FAP, bị từ chối thì sinh viên nhận lý do. Thiết kế xong, nhóm đưa cho AI vẽ.</a:t>
            </a:r>
          </a:p>
          <a:p/>
          <a:p>
            <a:r>
              <a:t>NẾU ĐƯỢC HỎI:</a:t>
            </a:r>
          </a:p>
          <a:p>
            <a:r>
              <a:t>• Câu mẫu 2, “Flow nào dễ hỏng nhất?”: FL-1 ở bước đối chiếu sĩ số. Hồi phục bằng FL-3. Mở ux/user-flow.md mục 3.</a:t>
            </a:r>
          </a:p>
          <a:p>
            <a:r>
              <a:t>• “Nếu thầy bỏ qua bước đối chiếu thì sao?” Thừa nhận đó là rủi ro số một, chưa kiểm chứng. Thiết kế làm bước đó nhanh nhất có thể (bấm −/+) và khóa nút gửi FAP khi còn lượt cần xem.</a:t>
            </a:r>
          </a:p>
          <a:p>
            <a:r>
              <a:t>• “Chụp QR gửi bạn ở nhà quét thì sao?” Mã 15 giây, nhận mã liền trước, nên cửa còn tối đa 30 giây (D-28). QR không chặn được; hai lớp sau bắt: đếm sĩ số và kiểm tra ngẫu nhiên 3 bạn, xác suất bắt được khoảng 86% qua 20 buổi (D-21).</a:t>
            </a:r>
          </a:p>
          <a:p>
            <a:r>
              <a:t>• “Sao không kiểm Wi-Fi hoặc GPS?” Chặn oan bạn dùng 4G, đụng dữ liệu vị trí; đã loại ở D-21 C và bác lại ở D-24.</a:t>
            </a:r>
          </a:p>
          <a:p>
            <a:r>
              <a:t>• “Mở điểm danh từ xa thì ai đếm?” QR chỉ hiện trên màn hình lớp (D-24); phiên chờ thầy tới lớp đếm và kiểm tra rồi mới điền FAP (D-21 B).</a:t>
            </a:r>
          </a:p>
          <a:p>
            <a:r>
              <a:t>• “Sinh viên hết pin?” Võ Minh Tâm: SC-04 đánh dấu “Trong phòng” (31 người, 30 lượt quét), SC-06 ghi tay kèm giờ; còn mục “Ghi tay thêm sinh viên”.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(0:50):</a:t>
            </a:r>
          </a:p>
          <a:p>
            <a:r>
              <a:t>Prompt soạn từ DESIGN.md và có đủ năm phần đề yêu cầu: nền tảng, sản phẩm, nhiệm vụ của màn, ràng buộc và phong cách. Trên slide là ba câu trích nguyên văn, bản đủ ở AI-18.</a:t>
            </a:r>
          </a:p>
          <a:p>
            <a:r>
              <a:t>[Chỉ lần lượt số 1, 2, 3 trên ảnh] Bản IT-0 của Stitch trông gọn nhưng sai ba điều: hai nút chính, trong đó “Submit Roster” cho gửi danh sách khi chưa đối chiếu; một dòng bịa ra kiểm tra địa chỉ mạng mà nhóm đã loại; và chữ tiếng Anh lẫn vào. Stitch vẽ đẹp nhanh nhưng không hiểu luật của bài, nên cần ba vòng sửa.</a:t>
            </a:r>
          </a:p>
          <a:p/>
          <a:p>
            <a:r>
              <a:t>NẾU ĐƯỢC HỎI:</a:t>
            </a:r>
          </a:p>
          <a:p>
            <a:r>
              <a:t>• Vì sao prompt viết tiếng Anh? Chữ giao diện tiếng Việt đặt trong ngoặc kép để Stitch chép nguyên văn; phần mô tả bố cục viết tiếng Anh vì mô hình bám cấu trúc tốt hơn.</a:t>
            </a:r>
          </a:p>
          <a:p>
            <a:r>
              <a:t>• Ba màn cho Stitch tạo: SC-03, SC-09, SC-11, phủ cả hai persona.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(1:10):</a:t>
            </a:r>
          </a:p>
          <a:p>
            <a:r>
              <a:t>Mỗi vòng giải một loại vấn đề khác.</a:t>
            </a:r>
          </a:p>
          <a:p>
            <a:r>
              <a:t>[Ảnh 2] Vòng 1 là việc chính và ngôn ngữ: còn một nút chính, toàn bộ tiếng Việt, theo Nielsen số 5 và số 2.</a:t>
            </a:r>
          </a:p>
          <a:p>
            <a:r>
              <a:t>[Ảnh 3] Vòng 2 là bố cục 360 dp: sửa vòng 1 lại sinh lỗi cắt chữ, và viền nút phụ chỉ đạt 1,26:1. Nhóm nâng lên 4,16:1 theo WCAG 1.4.11.</a:t>
            </a:r>
          </a:p>
          <a:p>
            <a:r>
              <a:t>[Ảnh 4] Vòng 3 là trạng thái: Stitch không có khái niệm trạng thái, nên bộ đếm được dựng lại trên Figma với ba trạng thái Đang mở, Sắp đóng, Đã đóng. Sau đó nhóm cho Stitch tự sửa đúng ba điểm này (IT-3) để so: Stitch sửa đúng cả ba nhưng làm chip “QR đã đóng” tràn chữ, giống vòng 2, sửa chỗ này hỏng chỗ khác.</a:t>
            </a:r>
          </a:p>
          <a:p>
            <a:r>
              <a:t>Tổng cộng 73 phát hiện có mã CR, mỗi cái gắn một màn và một heuristic. Nhưng không phải gợi ý nào của AI cũng được nhận.</a:t>
            </a:r>
          </a:p>
          <a:p/>
          <a:p>
            <a:r>
              <a:t>NẾU ĐƯỢC HỎI:</a:t>
            </a:r>
          </a:p>
          <a:p>
            <a:r>
              <a:t>• Câu mẫu 4: vòng 1 việc chính và ngôn ngữ (Nielsen #5, #2); vòng 2 bố cục 360 dp và tương phản viền (CR-18, CR-22); vòng 3 trạng thái (CR-25), IT-3 sửa đúng 3/3 nhưng sinh lỗi chip tràn chữ (CR-60). Mở design/stitch-critique-it0.md.</a:t>
            </a:r>
          </a:p>
          <a:p>
            <a:r>
              <a:t>• Nguồn của 73 mã: CR-01..25 Stitch, CR-26..42 Figma, CR-43..53 bản chấm độc lập, CR-54..63 Stitch IT-0b và IT-3, CR-64..65 tự rà Figma, CR-66..73 chấm chéo bằng Codex (AI-29).</a:t>
            </a:r>
          </a:p>
          <a:p>
            <a:r>
              <a:t>• “Bốn màn Stitch SC-02, 04, 05, 06 có phải Stitch nghĩ ra luồng?” Không. Chạy tối 15/10 sau khi Figma xong, nội dung lấy từ screen-spec, để có bản AI sinh mà so. Stitch vẫn tự thêm Wi-Fi trái D-24 và làm mất dấu tiêu đề (CR-54, CR-55). Đã ghi ở AI-28.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(1:00):</a:t>
            </a:r>
          </a:p>
          <a:p>
            <a:r>
              <a:t>Nhóm xếp gợi ý của AI vào ba cột. Chấp nhận: bộ đếm ngược QR của Stitch chạy thật, nên thành component ba trạng thái. Sửa: ảnh người thật kiểu stock thành avatar chữ cái; câu nhắc chống gian lận dời từ màn lỗi lên màn quét, vì răn đe phải đến trước hành vi.</a:t>
            </a:r>
          </a:p>
          <a:p>
            <a:r>
              <a:t>[Chỉ thẻ D-24] Bỏ: có cả gợi ý của chính Claude. Claude khuyên gắn cờ lượt quét ngoài Wi-Fi trường. Nhóm đã chọn, rồi mở lại vì nó chính là phương án đã bỏ ở D-21: chặn oan bạn dùng 4G. AI không tự thấy mâu thuẫn với quyết định trước của nó.</a:t>
            </a:r>
          </a:p>
          <a:p>
            <a:r>
              <a:t>Cả 34 quyết định đều ghi phương án, lý do và người chốt. Sau ba vòng, đây là sản phẩm cuối.</a:t>
            </a:r>
          </a:p>
          <a:p/>
          <a:p>
            <a:r>
              <a:t>NẾU ĐƯỢC HỎI:</a:t>
            </a:r>
          </a:p>
          <a:p>
            <a:r>
              <a:t>• Câu mẫu 3: Submit Roster (CR-01) và cờ Wi-Fi (D-24). Mở process/decision-log.md.</a:t>
            </a:r>
          </a:p>
          <a:p>
            <a:r>
              <a:t>• Thêm ví dụ: CR-07, Claude nói có chữ dưới 14 sp, đo HTML thì nhỏ nhất đúng 14 px, nên bác. Phản biện của AI cũng phải được kiểm.</a:t>
            </a:r>
          </a:p>
          <a:p>
            <a:r>
              <a:t>• “Figma em tự vẽ hay AI vẽ?” Nói thẳng: Claude thực thi qua Figma MCP (D-07), đã ghi trong Disclosure và nhật ký AI-23 tới AI-26. Phần của em là mọi điểm rẽ D-01 tới D-34, duyệt từng vòng và tự chạy thử prototype. Đừng phủ nhận.</a:t>
            </a:r>
          </a:p>
          <a:p>
            <a:r>
              <a:t>• “AI làm hết thì học được gì?” Kể những lần đi ngược AI: QR chiếu cho cả lớp (D-19), extension điền FAP thay vì giả định FAP có API (D-18), mở lại D-24, sửa sự thật đăng nhập FAP của sinh viên K19 (CR-41).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(0:45):</a:t>
            </a:r>
          </a:p>
          <a:p>
            <a:r>
              <a:t>[Chỉ cặp ảnh trái] Từ wireframe xám sang màn cuối, thứ bậc giữ nguyên: số “28/32” ở trên vì đó là điều thầy nhìn đầu tiên, danh sách ở giữa, đúng một nút chính ở đáy trong vùng ngón cái.</a:t>
            </a:r>
          </a:p>
          <a:p>
            <a:r>
              <a:t>[Chỉ ba ảnh phải] Màn nào cần thì có đủ tải, trống và lỗi. Lỗi luôn theo mẫu chuyện gì, vì sao, làm gì tiếp, kèm nút Quét lại. Trang 03 có 15 màn và 54 biến thể. Tất cả dùng chung một hệ thiết kế.</a:t>
            </a:r>
          </a:p>
          <a:p/>
          <a:p>
            <a:r>
              <a:t>NẾU ĐƯỢC HỎI:</a:t>
            </a:r>
          </a:p>
          <a:p>
            <a:r>
              <a:t>• “MSSV và tên trong Figma có thật không?” Dữ liệu mô phỏng, tên và mã tự đặt.</a:t>
            </a:r>
          </a:p>
          <a:p>
            <a:r>
              <a:t>• Nếu bị cắt giờ: rút slide này còn 0:30.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(0:50):</a:t>
            </a:r>
          </a:p>
          <a:p>
            <a:r>
              <a:t>Nguồn token duy nhất là DESIGN.md: 18 biến màu, 7 text style Inter, khoảng cách, góc bo, 4 độ nổi. Màu lấy từ FAP để người dùng nhận ra ngay, nhưng màu nào chưa đạt 4,5:1 thì nhóm làm đậm. 15 component set đủ 9 loại đề yêu cầu.</a:t>
            </a:r>
          </a:p>
          <a:p>
            <a:r>
              <a:t>Không frame nào dùng mã màu trần, nên đổi color/primary một lần là cả 72 frame điện thoại đổi theo. Phần demo em sẽ làm thử cho thầy xem. Hệ này cũng được đo accessibility.</a:t>
            </a:r>
          </a:p>
          <a:p/>
          <a:p>
            <a:r>
              <a:t>NẾU ĐƯỢC HỎI:</a:t>
            </a:r>
          </a:p>
          <a:p>
            <a:r>
              <a:t>• Câu mẫu 5: cả 72 frame điện thoại (69 khung 360 × 800 và 3 khung 412 × 915). Làm thử trên trang 04.</a:t>
            </a:r>
          </a:p>
          <a:p>
            <a:r>
              <a:t>• Dùng màu FAP nhưng không dùng logo hay tên FAP: ứng dụng không giả FAP (D-20 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(0:45):</a:t>
            </a:r>
          </a:p>
          <a:p>
            <a:r>
              <a:t>Mọi con số chạy bằng script đọc file Figma, không ước lượng. Script chạy ngày 14/10 đi qua 1 240 chữ trên 71 frame: cặp thấp nhất là 5,24:1, trên ngưỡng 4,5:1. Viền ô nhập đạt 4,16:1. 146 vùng bấm không vùng nào nhỏ hơn 48 dp, chữ nhỏ nhất 14 sp.</a:t>
            </a:r>
          </a:p>
          <a:p>
            <a:r>
              <a:t>[Chỉ hai ảnh] Ở 412 dp, nhóm dựng lại ba màn khó nhất: chữ không bị cắt, nút giữ 48 dp, thanh dưới bám đáy. Phần cuối là prototype và bàn giao.</a:t>
            </a:r>
          </a:p>
          <a:p/>
          <a:p>
            <a:r>
              <a:t>NẾU ĐƯỢC HỎI:</a:t>
            </a:r>
          </a:p>
          <a:p>
            <a:r>
              <a:t>• 71 frame là số ngày 14/10, trước khi thêm frame SC-02 Trống; nay là 72 frame điện thoại.</a:t>
            </a:r>
          </a:p>
          <a:p>
            <a:r>
              <a:t>• Câu mẫu 6: SC-03 danh sách dài nhất, SC-06 nhiều nhóm, SC-09; mới kiểm 3 màn đại diện (D-31, CR-70).</a:t>
            </a:r>
          </a:p>
          <a:p>
            <a:r>
              <a:t>• “Dark mode, TalkBack?” Đề bắt buộc Light, Dark là tùy chọn. Handoff có nhãn Semantics cho trạng thái tải nhưng chưa thử bằng TalkBack. Nói thẳng là chưa thử.</a:t>
            </a:r>
          </a:p>
          <a:p>
            <a:r>
              <a:t>• Nếu bị cắt giờ: rút slide này còn 0:30.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(0:30):</a:t>
            </a:r>
          </a:p>
          <a:p>
            <a:r>
              <a:t>Prototype có 85 frame và 12 điểm bắt đầu; script kiểm không có link hỏng. Năm ảnh này là năm bước em sẽ bấm trong demo, theo đúng thứ tự. [Nói xong thì chuyển sang slide 12 trước, demo sau cùng.]</a:t>
            </a:r>
          </a:p>
          <a:p/>
          <a:p>
            <a:r>
              <a:t>NẾU ĐƯỢC HỎI:</a:t>
            </a:r>
          </a:p>
          <a:p>
            <a:r>
              <a:t>• “Slide này nói không ngõ cụt, slide 12 lại nói 9 nút ngoài kịch bản?” Chín nút có trong thiết kế nhưng prototype chưa vẽ màn tiếp theo. Bấm vào thì hiện overlay “Ngoài kịch bản demo” và nút Đã hiểu để quay lại, nên không nút nào im lặng (CR-48, D-32).</a:t>
            </a:r>
          </a:p>
          <a:p>
            <a:r>
              <a:t>• “Ô ảnh FAP ở SC-05 chỉ là hình minh họa?” Bài không dùng ảnh người thật; app thật lấy ảnh hồ sơ FAP. Thẻ đã chọn có nút Đổi khi bấm nhầm (CR-72, CR-73).</a:t>
            </a:r>
          </a:p>
          <a:p>
            <a:r>
              <a:t>• “Ô Quét dư tính thế nào?” Đã quét − (Trong phòng − người chưa quét được đánh dấu Trong phòng) = 30 − (31 − 2) = +1, khớp banner. Bản trước ghi “Chênh −1”, đã sửa 15/10 (CR-63).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NÓI (0:50):</a:t>
            </a:r>
          </a:p>
          <a:p>
            <a:r>
              <a:t>flutter-handoff.md có 6 mục cho từng màn và hai bảng ánh xạ: token sang Flutter, component sang widget. Một lập trình viên lạ mở mục SC-03 là biết cây widget, trạng thái kèm tên frame, và Back đi đâu.</a:t>
            </a:r>
          </a:p>
          <a:p>
            <a:r>
              <a:t>Nhóm nói trước giới hạn: persona là mô phỏng, chưa thử với người thật; 9 nút trong prototype nằm ngoài kịch bản demo, bấm vào thì hiện thông báo nói rõ điều đó (CR-48); app desktop và extension ngoài phạm vi; chỉ đo theme Light.</a:t>
            </a:r>
          </a:p>
          <a:p>
            <a:r>
              <a:t>Nhóm đề nghị hội đồng cho thử prototype với 2 đến 3 giảng viên thật: đo TC-1, và hỏi thầy cô có chịu thêm 40 giây đối chiếu không, vì nếu không thì thầy Nam sẽ bỏ bước đó và quét hộ quay lại. Giờ em xin demo trên Figma.</a:t>
            </a:r>
          </a:p>
          <a:p/>
          <a:p>
            <a:r>
              <a:t>NẾU ĐƯỢC HỎI:</a:t>
            </a:r>
          </a:p>
          <a:p>
            <a:r>
              <a:t>• Câu mẫu 7: mở mục SC-03. Bố cục cho cây widget, Trạng thái ghi tên frame Figma, Điều hướng nói Back đi đâu, Ràng buộc nói chữ xuống dòng và cỡ chữ tới 200%.</a:t>
            </a:r>
          </a:p>
          <a:p>
            <a:r>
              <a:t>• DEMO (5:00): 6 trang (0:30) → 8 màn khác nhau trên trang 03 (0:20) → Present trang 06, ba flow (2:30) → component và đổi color/primary rồi Ctrl+Z (0:40) → truy AI-18 → IT-0 → CR-01 → Figma (0:30) → GitHub: README, screen-spec, handoff (0:30). Mạng chậm thì bỏ bước component và nói bằng lời.</a:t>
            </a:r>
          </a:p>
          <a:p>
            <a:r>
              <a:t>• “Mỗi bạn làm phần nào?” Commit đều đứng tên Thiên. Trả lời đúng sự thật đã thống nhất trong nhóm (CR-71).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61"/>
            <a:ext cx="10566400" cy="379730"/>
          </a:xfrm>
          <a:prstGeom prst="rect">
            <a:avLst/>
          </a:prstGeom>
          <a:noFill/>
          <a:ln/>
        </p:spPr>
        <p:txBody>
          <a:bodyPr wrap="square" lIns="0" tIns="0" rIns="0" bIns="0" rtlCol="0" anchor="t"/>
          <a:lstStyle>
            <a:lvl1pPr algn="l" indent="0" marL="0">
              <a:lnSpc>
                <a:spcPct val="115000"/>
              </a:lnSpc>
              <a:buNone/>
              <a:defRPr lang="en-US" sz="2600" dirty="0">
                <a:solidFill>
                  <a:srgbClr val="1B2140"/>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685291"/>
            <a:ext cx="10566400" cy="4359909"/>
          </a:xfrm>
          <a:prstGeom prst="rect">
            <a:avLst/>
          </a:prstGeom>
          <a:noFill/>
          <a:ln/>
        </p:spPr>
        <p:txBody>
          <a:bodyPr wrap="square" lIns="0" tIns="0" rIns="0" bIns="0" rtlCol="0" anchor="t"/>
          <a:lstStyle>
            <a:lvl1pPr algn="l" indent="0" marL="0">
              <a:lnSpc>
                <a:spcPct val="140000"/>
              </a:lnSpc>
              <a:buNone/>
              <a:defRPr lang="en-US" sz="1600" dirty="0">
                <a:solidFill>
                  <a:srgbClr val="1B214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61"/>
            <a:ext cx="10566400" cy="379730"/>
          </a:xfrm>
          <a:prstGeom prst="rect">
            <a:avLst/>
          </a:prstGeom>
          <a:noFill/>
          <a:ln/>
        </p:spPr>
        <p:txBody>
          <a:bodyPr wrap="square" lIns="0" tIns="0" rIns="0" bIns="0" rtlCol="0" anchor="t"/>
          <a:lstStyle>
            <a:lvl1pPr algn="l" indent="0" marL="0">
              <a:lnSpc>
                <a:spcPct val="115000"/>
              </a:lnSpc>
              <a:buNone/>
              <a:defRPr lang="en-US" sz="2600" dirty="0">
                <a:solidFill>
                  <a:srgbClr val="1B2140"/>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685291"/>
            <a:ext cx="10566400" cy="4359909"/>
          </a:xfrm>
          <a:prstGeom prst="rect">
            <a:avLst/>
          </a:prstGeom>
          <a:noFill/>
          <a:ln/>
        </p:spPr>
        <p:txBody>
          <a:bodyPr wrap="square" lIns="0" tIns="0" rIns="0" bIns="0" rtlCol="0" anchor="t"/>
          <a:lstStyle>
            <a:lvl1pPr algn="l" indent="0" marL="0">
              <a:lnSpc>
                <a:spcPct val="140000"/>
              </a:lnSpc>
              <a:buNone/>
              <a:defRPr lang="en-US" sz="1600" dirty="0">
                <a:solidFill>
                  <a:srgbClr val="1B214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figma.com/design/9yDa2ylfREmndW1mK1hf7w" TargetMode="External"/><Relationship Id="rId2" Type="http://schemas.openxmlformats.org/officeDocument/2006/relationships/hyperlink" Target="https://github.com/thiengthb/prm323-lab2-SE190533" TargetMode="Externa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 Id="rId9" Type="http://schemas.openxmlformats.org/officeDocument/2006/relationships/image" Target="../media/image-2-7.png"/><Relationship Id="rId10" Type="http://schemas.openxmlformats.org/officeDocument/2006/relationships/hyperlink" Target="https://github.com/thiengthb/prm323-lab2-SE190533/blob/main/ux/persona.md" TargetMode="External"/><Relationship Id="rId11" Type="http://schemas.openxmlformats.org/officeDocument/2006/relationships/hyperlink" Target="https://github.com/thiengthb/prm323-lab2-SE190533/blob/main/process/decision-log.md" TargetMode="External"/><Relationship Id="rId12" Type="http://schemas.openxmlformats.org/officeDocument/2006/relationships/hyperlink" Target="https://github.com/thiengthb/prm323-lab2-SE190533/blob/main/research/02-desk/qr-attendance-fraud.md" TargetMode="External"/><Relationship Id="rId13" Type="http://schemas.openxmlformats.org/officeDocument/2006/relationships/hyperlink" Target="https://github.com/thiengthb/prm323-lab2-SE190533/tree/main/research/05-raw"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thiengthb/prm323-lab2-SE190533/blob/main/ux/user-flow.md#1-ki%E1%BA%BFn-tr%C3%BAc-th%C3%B4ng-tin" TargetMode="External"/><Relationship Id="rId4" Type="http://schemas.openxmlformats.org/officeDocument/2006/relationships/hyperlink" Target="https://www.figma.com/design/9yDa2ylfREmndW1mK1hf7w?node-id=0-1" TargetMode="Externa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2.xml"/><Relationship Id="rId18" Type="http://schemas.openxmlformats.org/officeDocument/2006/relationships/notesSlide" Target="../notesSlides/notesSlide4.xml"/><Relationship Id="rId19" Type="http://schemas.openxmlformats.org/officeDocument/2006/relationships/hyperlink" Target="https://github.com/thiengthb/prm323-lab2-SE190533/blob/main/ux/user-flow.md#3-flow" TargetMode="External"/><Relationship Id="rId20" Type="http://schemas.openxmlformats.org/officeDocument/2006/relationships/hyperlink" Target="https://www.figma.com/design/9yDa2ylfREmndW1mK1hf7w?node-id=0-1"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hyperlink" Target="https://github.com/thiengthb/prm323-lab2-SE190533/blob/main/ai/prompts/AI-18-stitch-first-prompt.md" TargetMode="External"/><Relationship Id="rId5" Type="http://schemas.openxmlformats.org/officeDocument/2006/relationships/hyperlink" Target="https://github.com/thiengthb/prm323-lab2-SE190533/blob/main/design/DESIGN.md" TargetMode="External"/><Relationship Id="rId6" Type="http://schemas.openxmlformats.org/officeDocument/2006/relationships/hyperlink" Target="https://github.com/thiengthb/prm323-lab2-SE190533/blob/main/ai/ai-design-log.md" TargetMode="External"/><Relationship Id="rId7" Type="http://schemas.openxmlformats.org/officeDocument/2006/relationships/hyperlink" Target="https://github.com/thiengthb/prm323-lab2-SE190533/tree/main/assets/stitch" TargetMode="Externa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 Id="rId7" Type="http://schemas.openxmlformats.org/officeDocument/2006/relationships/hyperlink" Target="https://github.com/thiengthb/prm323-lab2-SE190533/blob/main/ai/ai-design-log.md" TargetMode="External"/><Relationship Id="rId8" Type="http://schemas.openxmlformats.org/officeDocument/2006/relationships/hyperlink" Target="https://github.com/thiengthb/prm323-lab2-SE190533/blob/main/design/stitch-critique-it0.md" TargetMode="External"/><Relationship Id="rId9" Type="http://schemas.openxmlformats.org/officeDocument/2006/relationships/hyperlink" Target="https://github.com/thiengthb/prm323-lab2-SE190533/blob/main/design/stitch-critique-it3.md" TargetMode="External"/><Relationship Id="rId10" Type="http://schemas.openxmlformats.org/officeDocument/2006/relationships/hyperlink" Target="https://github.com/thiengthb/prm323-lab2-SE190533/blob/main/design/final-ui-review.md"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 Id="rId6" Type="http://schemas.openxmlformats.org/officeDocument/2006/relationships/hyperlink" Target="https://github.com/thiengthb/prm323-lab2-SE190533/blob/main/process/decision-log.md" TargetMode="External"/><Relationship Id="rId7" Type="http://schemas.openxmlformats.org/officeDocument/2006/relationships/hyperlink" Target="https://github.com/thiengthb/prm323-lab2-SE190533/blob/main/design/design-decisions.md" TargetMode="Externa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 Id="rId9" Type="http://schemas.openxmlformats.org/officeDocument/2006/relationships/hyperlink" Target="https://www.figma.com/design/9yDa2ylfREmndW1mK1hf7w?node-id=1-2" TargetMode="External"/><Relationship Id="rId10" Type="http://schemas.openxmlformats.org/officeDocument/2006/relationships/hyperlink" Target="https://www.figma.com/design/9yDa2ylfREmndW1mK1hf7w?node-id=1-3" TargetMode="External"/><Relationship Id="rId11" Type="http://schemas.openxmlformats.org/officeDocument/2006/relationships/hyperlink" Target="https://github.com/thiengthb/prm323-lab2-SE190533/blob/main/design/screen-spec.md" TargetMode="Externa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 Id="rId6" Type="http://schemas.openxmlformats.org/officeDocument/2006/relationships/hyperlink" Target="https://www.figma.com/design/9yDa2ylfREmndW1mK1hf7w?node-id=1-4" TargetMode="External"/><Relationship Id="rId7" Type="http://schemas.openxmlformats.org/officeDocument/2006/relationships/hyperlink" Target="https://www.figma.com/design/9yDa2ylfREmndW1mK1hf7w?node-id=1-5" TargetMode="External"/><Relationship Id="rId8" Type="http://schemas.openxmlformats.org/officeDocument/2006/relationships/hyperlink" Target="https://github.com/thiengthb/prm323-lab2-SE190533/blob/main/design/DESIGN.md" TargetMode="External"/><Relationship Id="rId9" Type="http://schemas.openxmlformats.org/officeDocument/2006/relationships/hyperlink" Target="https://github.com/thiengthb/prm323-lab2-SE190533/blob/main/handoff/flutter-handoff.md#1-b%E1%BA%A3ng-%C3%A1nh-x%E1%BA%A1-chung" TargetMode="Externa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 Id="rId5" Type="http://schemas.openxmlformats.org/officeDocument/2006/relationships/hyperlink" Target="https://github.com/thiengthb/prm323-lab2-SE190533/blob/main/design/design-decisions.md#2-checklist-accessibility-v%C3%A0-responsive" TargetMode="External"/><Relationship Id="rId6" Type="http://schemas.openxmlformats.org/officeDocument/2006/relationships/hyperlink" Target="https://www.figma.com/design/9yDa2ylfREmndW1mK1hf7w?node-id=51-2610" TargetMode="Externa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 Id="rId8" Type="http://schemas.openxmlformats.org/officeDocument/2006/relationships/hyperlink" Target="https://github.com/thiengthb/prm323-lab2-SE190533/blob/main/design/prototype-links.md" TargetMode="External"/><Relationship Id="rId9" Type="http://schemas.openxmlformats.org/officeDocument/2006/relationships/hyperlink" Target="https://www.figma.com/design/9yDa2ylfREmndW1mK1hf7w?node-id=1-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thiengthb/prm323-lab2-SE190533/blob/main/handoff/flutter-handoff.md" TargetMode="External"/><Relationship Id="rId4" Type="http://schemas.openxmlformats.org/officeDocument/2006/relationships/hyperlink" Target="https://github.com/thiengthb/prm323-lab2-SE190533/blob/main/README.md" TargetMode="External"/><Relationship Id="rId5" Type="http://schemas.openxmlformats.org/officeDocument/2006/relationships/hyperlink" Target="https://github.com/thiengthb/prm323-lab2-SE1905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40"/>
        </a:solidFill>
      </p:bgPr>
    </p:bg>
    <p:spTree>
      <p:nvGrpSpPr>
        <p:cNvPr id="1" name=""/>
        <p:cNvGrpSpPr/>
        <p:nvPr/>
      </p:nvGrpSpPr>
      <p:grpSpPr>
        <a:xfrm>
          <a:off x="0" y="0"/>
          <a:ext cx="0" cy="0"/>
          <a:chOff x="0" y="0"/>
          <a:chExt cx="0" cy="0"/>
        </a:xfrm>
      </p:grpSpPr>
      <p:sp>
        <p:nvSpPr>
          <p:cNvPr id="2" name="Text 0"/>
          <p:cNvSpPr/>
          <p:nvPr/>
        </p:nvSpPr>
        <p:spPr>
          <a:xfrm>
            <a:off x="812800" y="1264920"/>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PRM323 · Lab 2 · Thiết kế UI/UX có AI hỗ trợ (Google Stitch → Figma)</a:t>
            </a:r>
            <a:endParaRPr lang="en-US" sz="1200" dirty="0"/>
          </a:p>
        </p:txBody>
      </p:sp>
      <p:sp>
        <p:nvSpPr>
          <p:cNvPr id="3" name="Text 1"/>
          <p:cNvSpPr/>
          <p:nvPr>
            <p:ph type="title"/>
          </p:nvPr>
        </p:nvSpPr>
        <p:spPr>
          <a:xfrm>
            <a:off x="812800" y="1681480"/>
            <a:ext cx="5755640"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5F8"/>
                </a:solidFill>
                <a:latin typeface="Be Vietnam Pro" pitchFamily="34" charset="0"/>
                <a:ea typeface="Be Vietnam Pro" pitchFamily="34" charset="-122"/>
                <a:cs typeface="Be Vietnam Pro" pitchFamily="34" charset="-120"/>
              </a:rPr>
              <a:t>Điểm danh</a:t>
            </a:r>
            <a:endParaRPr lang="en-US" sz="4800" dirty="0"/>
          </a:p>
          <a:p>
            <a:pPr algn="l" indent="0" marL="0">
              <a:lnSpc>
                <a:spcPts val="5280"/>
              </a:lnSpc>
              <a:buNone/>
            </a:pPr>
            <a:r>
              <a:rPr lang="en-US" sz="4800" b="1" i="0" dirty="0">
                <a:solidFill>
                  <a:srgbClr val="F5F5F8"/>
                </a:solidFill>
                <a:latin typeface="Be Vietnam Pro" pitchFamily="34" charset="0"/>
                <a:ea typeface="Be Vietnam Pro" pitchFamily="34" charset="-122"/>
                <a:cs typeface="Be Vietnam Pro" pitchFamily="34" charset="-120"/>
              </a:rPr>
              <a:t>buổi học</a:t>
            </a:r>
            <a:endParaRPr lang="en-US" sz="4800" dirty="0"/>
          </a:p>
        </p:txBody>
      </p:sp>
      <p:sp>
        <p:nvSpPr>
          <p:cNvPr id="4" name="Text 2"/>
          <p:cNvSpPr/>
          <p:nvPr/>
        </p:nvSpPr>
        <p:spPr>
          <a:xfrm>
            <a:off x="812800" y="3225800"/>
            <a:ext cx="57556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CEE"/>
                </a:solidFill>
                <a:latin typeface="Inter Medium" pitchFamily="34" charset="0"/>
                <a:ea typeface="Inter Medium" pitchFamily="34" charset="-122"/>
                <a:cs typeface="Inter Medium" pitchFamily="34" charset="-120"/>
              </a:rPr>
              <a:t>Điểm danh bằng QR: không đọc tên, mở được từ xa, FAP vẫn lưu kết quả.</a:t>
            </a:r>
            <a:endParaRPr lang="en-US" sz="1800" dirty="0"/>
          </a:p>
        </p:txBody>
      </p:sp>
      <p:sp>
        <p:nvSpPr>
          <p:cNvPr id="5" name="Text 3"/>
          <p:cNvSpPr/>
          <p:nvPr/>
        </p:nvSpPr>
        <p:spPr>
          <a:xfrm>
            <a:off x="812800" y="4069080"/>
            <a:ext cx="1320800" cy="909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Group 3</a:t>
            </a:r>
            <a:endParaRPr lang="en-US" sz="1200" dirty="0"/>
          </a:p>
        </p:txBody>
      </p:sp>
      <p:sp>
        <p:nvSpPr>
          <p:cNvPr id="6" name="Text 4"/>
          <p:cNvSpPr/>
          <p:nvPr/>
        </p:nvSpPr>
        <p:spPr>
          <a:xfrm>
            <a:off x="2082800" y="4069080"/>
            <a:ext cx="444754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5F5F8"/>
                </a:solidFill>
                <a:latin typeface="Inter SemiBold" pitchFamily="34" charset="0"/>
                <a:ea typeface="Inter SemiBold" pitchFamily="34" charset="-122"/>
                <a:cs typeface="Inter SemiBold" pitchFamily="34" charset="-120"/>
              </a:rPr>
              <a:t>Trần Ngọc Thiên · SE190533</a:t>
            </a:r>
            <a:endParaRPr lang="en-US" sz="1200" dirty="0"/>
          </a:p>
          <a:p>
            <a:pPr algn="l" indent="0" marL="0">
              <a:lnSpc>
                <a:spcPts val="1740"/>
              </a:lnSpc>
              <a:buNone/>
            </a:pPr>
            <a:r>
              <a:rPr lang="en-US" sz="1200" dirty="0">
                <a:solidFill>
                  <a:srgbClr val="F5F5F8"/>
                </a:solidFill>
                <a:latin typeface="Inter SemiBold" pitchFamily="34" charset="0"/>
                <a:ea typeface="Inter SemiBold" pitchFamily="34" charset="-122"/>
                <a:cs typeface="Inter SemiBold" pitchFamily="34" charset="-120"/>
              </a:rPr>
              <a:t>Vũ Anh Khôi · SE194606</a:t>
            </a:r>
            <a:endParaRPr lang="en-US" sz="1200" dirty="0"/>
          </a:p>
          <a:p>
            <a:pPr algn="l" indent="0" marL="0">
              <a:lnSpc>
                <a:spcPts val="1740"/>
              </a:lnSpc>
              <a:buNone/>
            </a:pPr>
            <a:r>
              <a:rPr lang="en-US" sz="1200" dirty="0">
                <a:solidFill>
                  <a:srgbClr val="F5F5F8"/>
                </a:solidFill>
                <a:latin typeface="Inter SemiBold" pitchFamily="34" charset="0"/>
                <a:ea typeface="Inter SemiBold" pitchFamily="34" charset="-122"/>
                <a:cs typeface="Inter SemiBold" pitchFamily="34" charset="-120"/>
              </a:rPr>
              <a:t>Vũ Huy Phương · SE190742</a:t>
            </a:r>
            <a:endParaRPr lang="en-US" sz="1200" dirty="0"/>
          </a:p>
          <a:p>
            <a:pPr algn="l" indent="0" marL="0">
              <a:lnSpc>
                <a:spcPts val="1740"/>
              </a:lnSpc>
              <a:buNone/>
            </a:pPr>
            <a:r>
              <a:rPr lang="en-US" sz="1200" dirty="0">
                <a:solidFill>
                  <a:srgbClr val="F5F5F8"/>
                </a:solidFill>
                <a:latin typeface="Inter SemiBold" pitchFamily="34" charset="0"/>
                <a:ea typeface="Inter SemiBold" pitchFamily="34" charset="-122"/>
                <a:cs typeface="Inter SemiBold" pitchFamily="34" charset="-120"/>
              </a:rPr>
              <a:t>Lê Thành Lộc · SE182702</a:t>
            </a:r>
            <a:endParaRPr lang="en-US" sz="1200" dirty="0"/>
          </a:p>
        </p:txBody>
      </p:sp>
      <p:sp>
        <p:nvSpPr>
          <p:cNvPr id="7" name="Text 5"/>
          <p:cNvSpPr/>
          <p:nvPr/>
        </p:nvSpPr>
        <p:spPr>
          <a:xfrm>
            <a:off x="812800" y="4953000"/>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Người dùng</a:t>
            </a:r>
            <a:endParaRPr lang="en-US" sz="1200" dirty="0"/>
          </a:p>
        </p:txBody>
      </p:sp>
      <p:sp>
        <p:nvSpPr>
          <p:cNvPr id="8" name="Text 6"/>
          <p:cNvSpPr/>
          <p:nvPr/>
        </p:nvSpPr>
        <p:spPr>
          <a:xfrm>
            <a:off x="2082800" y="4953000"/>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8"/>
                </a:solidFill>
                <a:latin typeface="Inter SemiBold" pitchFamily="34" charset="0"/>
                <a:ea typeface="Inter SemiBold" pitchFamily="34" charset="-122"/>
                <a:cs typeface="Inter SemiBold" pitchFamily="34" charset="-120"/>
              </a:rPr>
              <a:t>Giảng viên và sinh viên FPTU cơ sở TP.HCM</a:t>
            </a:r>
            <a:endParaRPr lang="en-US" sz="1200" dirty="0"/>
          </a:p>
        </p:txBody>
      </p:sp>
      <p:sp>
        <p:nvSpPr>
          <p:cNvPr id="9" name="Text 7"/>
          <p:cNvSpPr/>
          <p:nvPr/>
        </p:nvSpPr>
        <p:spPr>
          <a:xfrm>
            <a:off x="812800" y="5166360"/>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Figma</a:t>
            </a:r>
            <a:endParaRPr lang="en-US" sz="1200" dirty="0"/>
          </a:p>
        </p:txBody>
      </p:sp>
      <p:sp>
        <p:nvSpPr>
          <p:cNvPr id="10" name="Text 8"/>
          <p:cNvSpPr/>
          <p:nvPr/>
        </p:nvSpPr>
        <p:spPr>
          <a:xfrm>
            <a:off x="2082800" y="5166360"/>
            <a:ext cx="4447540" cy="23876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A9B3F5"/>
                </a:solidFill>
                <a:latin typeface="Inter SemiBold" pitchFamily="34" charset="0"/>
                <a:ea typeface="Inter SemiBold" pitchFamily="34" charset="-122"/>
                <a:cs typeface="Inter Semi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figma.com/design/9yDa2ylfREmndW1mK1hf7w</a:t>
            </a:r>
            <a:endParaRPr lang="en-US" sz="1200" dirty="0"/>
          </a:p>
        </p:txBody>
      </p:sp>
      <p:sp>
        <p:nvSpPr>
          <p:cNvPr id="11" name="Text 9"/>
          <p:cNvSpPr/>
          <p:nvPr/>
        </p:nvSpPr>
        <p:spPr>
          <a:xfrm>
            <a:off x="812800" y="5379720"/>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GitHub</a:t>
            </a:r>
            <a:endParaRPr lang="en-US" sz="1200" dirty="0"/>
          </a:p>
        </p:txBody>
      </p:sp>
      <p:sp>
        <p:nvSpPr>
          <p:cNvPr id="12" name="Text 10"/>
          <p:cNvSpPr/>
          <p:nvPr/>
        </p:nvSpPr>
        <p:spPr>
          <a:xfrm>
            <a:off x="2082800" y="5379720"/>
            <a:ext cx="4447540" cy="23876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A9B3F5"/>
                </a:solidFill>
                <a:latin typeface="Inter SemiBold" pitchFamily="34" charset="0"/>
                <a:ea typeface="Inter SemiBold" pitchFamily="34" charset="-122"/>
                <a:cs typeface="Inter Semi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github.com/thiengthb/prm323-lab2-SE190533</a:t>
            </a:r>
            <a:endParaRPr lang="en-US" sz="1200" dirty="0"/>
          </a:p>
        </p:txBody>
      </p:sp>
      <p:pic>
        <p:nvPicPr>
          <p:cNvPr id="17" name="Image 2" descr="Màn Phiên điểm danh: 28/32 đã quét, QR còn 1:52">    </p:cNvPr>
          <p:cNvPicPr>
            <a:picLocks noChangeAspect="1"/>
          </p:cNvPicPr>
          <p:nvPr/>
        </p:nvPicPr>
        <p:blipFill>
          <a:blip r:embed="rId5"/>
          <a:srcRect l="1058" r="1058" t="0" b="0"/>
          <a:stretch/>
        </p:blipFill>
        <p:spPr>
          <a:xfrm>
            <a:off x="6934200" y="889000"/>
            <a:ext cx="2082800" cy="4724400"/>
          </a:xfrm>
          <a:prstGeom prst="roundRect">
            <a:avLst>
              <a:gd name="adj" fmla="val 8784"/>
            </a:avLst>
          </a:prstGeom>
          <a:effectLst>
            <a:outerShdw sx="100000" sy="100000" kx="0" ky="0" algn="bl" rotWithShape="0" blurRad="406400" dist="152400" dir="5400000">
              <a:srgbClr val="080A1C">
                <a:alpha val="45000"/>
              </a:srgbClr>
            </a:outerShdw>
          </a:effectLst>
        </p:spPr>
      </p:pic>
      <p:sp>
        <p:nvSpPr>
          <p:cNvPr id="18" name="Shape 13"/>
          <p:cNvSpPr/>
          <p:nvPr/>
        </p:nvSpPr>
        <p:spPr>
          <a:xfrm>
            <a:off x="6915150" y="869950"/>
            <a:ext cx="2120900" cy="4762500"/>
          </a:xfrm>
          <a:prstGeom prst="roundRect">
            <a:avLst>
              <a:gd name="adj" fmla="val 9603"/>
            </a:avLst>
          </a:prstGeom>
          <a:noFill/>
          <a:ln w="38100">
            <a:solidFill>
              <a:srgbClr val="3A4270"/>
            </a:solidFill>
            <a:prstDash val="solid"/>
          </a:ln>
        </p:spPr>
      </p:sp>
      <p:pic>
        <p:nvPicPr>
          <p:cNvPr id="40" name="Image 3" descr="Màn Quét mã điểm danh của sinh viên">    </p:cNvPr>
          <p:cNvPicPr>
            <a:picLocks noChangeAspect="1"/>
          </p:cNvPicPr>
          <p:nvPr/>
        </p:nvPicPr>
        <p:blipFill>
          <a:blip r:embed="rId4"/>
          <a:srcRect l="1058" r="1058" t="0" b="0"/>
          <a:stretch/>
        </p:blipFill>
        <p:spPr>
          <a:xfrm>
            <a:off x="9296400" y="889000"/>
            <a:ext cx="2082800" cy="4724400"/>
          </a:xfrm>
          <a:prstGeom prst="roundRect">
            <a:avLst>
              <a:gd name="adj" fmla="val 8784"/>
            </a:avLst>
          </a:prstGeom>
          <a:effectLst>
            <a:outerShdw sx="100000" sy="100000" kx="0" ky="0" algn="bl" rotWithShape="0" blurRad="406400" dist="152400" dir="5400000">
              <a:srgbClr val="080A1C">
                <a:alpha val="45000"/>
              </a:srgbClr>
            </a:outerShdw>
          </a:effectLst>
        </p:spPr>
      </p:pic>
      <p:sp>
        <p:nvSpPr>
          <p:cNvPr id="41" name="Shape 14"/>
          <p:cNvSpPr/>
          <p:nvPr/>
        </p:nvSpPr>
        <p:spPr>
          <a:xfrm>
            <a:off x="9277350" y="869950"/>
            <a:ext cx="2120900" cy="4762500"/>
          </a:xfrm>
          <a:prstGeom prst="roundRect">
            <a:avLst>
              <a:gd name="adj" fmla="val 9603"/>
            </a:avLst>
          </a:prstGeom>
          <a:noFill/>
          <a:ln w="38100">
            <a:solidFill>
              <a:srgbClr val="3A4270"/>
            </a:solidFill>
            <a:prstDash val="solid"/>
          </a:ln>
        </p:spPr>
      </p:sp>
      <p:sp>
        <p:nvSpPr>
          <p:cNvPr id="42" name="Text 11"/>
          <p:cNvSpPr/>
          <p:nvPr/>
        </p:nvSpPr>
        <p:spPr>
          <a:xfrm>
            <a:off x="6731000" y="5765800"/>
            <a:ext cx="24892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Thầy mở phiên, QR lên TV lớp</a:t>
            </a:r>
            <a:endParaRPr lang="en-US" sz="1200" dirty="0"/>
          </a:p>
        </p:txBody>
      </p:sp>
      <p:sp>
        <p:nvSpPr>
          <p:cNvPr id="43" name="Text 12"/>
          <p:cNvSpPr/>
          <p:nvPr/>
        </p:nvSpPr>
        <p:spPr>
          <a:xfrm>
            <a:off x="9093200" y="5765800"/>
            <a:ext cx="24892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Sinh viên tự quét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Vấn đề · Persona</a:t>
            </a:r>
            <a:endParaRPr lang="en-US" sz="1200" dirty="0"/>
          </a:p>
        </p:txBody>
      </p:sp>
      <p:sp>
        <p:nvSpPr>
          <p:cNvPr id="3" name="Text 1"/>
          <p:cNvSpPr/>
          <p:nvPr>
            <p:ph type="title"/>
          </p:nvPr>
        </p:nvSpPr>
        <p:spPr>
          <a:xfrm>
            <a:off x="812800" y="1000760"/>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Giảng viên cần bỏ bước đọc tên, và mở điểm danh từ xa</a:t>
            </a:r>
            <a:endParaRPr lang="en-US" sz="2600" dirty="0"/>
          </a:p>
        </p:txBody>
      </p:sp>
      <p:sp>
        <p:nvSpPr>
          <p:cNvPr id="4" name="Shape 2"/>
          <p:cNvSpPr/>
          <p:nvPr/>
        </p:nvSpPr>
        <p:spPr>
          <a:xfrm>
            <a:off x="815975" y="1612265"/>
            <a:ext cx="5149850" cy="3526790"/>
          </a:xfrm>
          <a:prstGeom prst="roundRect">
            <a:avLst>
              <a:gd name="adj" fmla="val 2791"/>
            </a:avLst>
          </a:prstGeom>
          <a:solidFill>
            <a:srgbClr val="FCFCFE"/>
          </a:solidFill>
          <a:ln w="19050">
            <a:solidFill>
              <a:srgbClr val="C9CCDB"/>
            </a:solidFill>
            <a:prstDash val="solid"/>
          </a:ln>
        </p:spPr>
      </p:sp>
      <p:sp>
        <p:nvSpPr>
          <p:cNvPr id="5" name="Text 3"/>
          <p:cNvSpPr/>
          <p:nvPr/>
        </p:nvSpPr>
        <p:spPr>
          <a:xfrm>
            <a:off x="1046480" y="1791970"/>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ECEEF8"/>
          </a:solidFill>
          <a:ln/>
        </p:spPr>
        <p:txBody>
          <a:bodyPr wrap="square" lIns="0" tIns="0" rIns="0" bIns="0" rtlCol="0" anchor="ctr">
            <a:normAutofit/>
          </a:bodyPr>
          <a:lstStyle/>
          <a:p>
            <a:pPr algn="ctr" indent="0" marL="0">
              <a:buNone/>
            </a:pPr>
            <a:r>
              <a:rPr lang="en-US" sz="1400" b="1" dirty="0">
                <a:solidFill>
                  <a:srgbClr val="4254BA"/>
                </a:solidFill>
                <a:latin typeface="Be Vietnam Pro" pitchFamily="34" charset="0"/>
                <a:ea typeface="Be Vietnam Pro" pitchFamily="34" charset="-122"/>
                <a:cs typeface="Be Vietnam Pro" pitchFamily="34" charset="-120"/>
              </a:rPr>
              <a:t>HN</a:t>
            </a:r>
            <a:endParaRPr lang="en-US" sz="1400" dirty="0"/>
          </a:p>
        </p:txBody>
      </p:sp>
      <p:sp>
        <p:nvSpPr>
          <p:cNvPr id="6" name="Text 4"/>
          <p:cNvSpPr/>
          <p:nvPr/>
        </p:nvSpPr>
        <p:spPr>
          <a:xfrm>
            <a:off x="1630680" y="1793240"/>
            <a:ext cx="34164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140"/>
                </a:solidFill>
                <a:latin typeface="Be Vietnam Pro" pitchFamily="34" charset="0"/>
                <a:ea typeface="Be Vietnam Pro" pitchFamily="34" charset="-122"/>
                <a:cs typeface="Be Vietnam Pro" pitchFamily="34" charset="-120"/>
              </a:rPr>
              <a:t>P-01 · Thầy Hoàng Nam</a:t>
            </a:r>
            <a:endParaRPr lang="en-US" sz="1500" dirty="0"/>
          </a:p>
        </p:txBody>
      </p:sp>
      <p:sp>
        <p:nvSpPr>
          <p:cNvPr id="7" name="Text 5"/>
          <p:cNvSpPr/>
          <p:nvPr/>
        </p:nvSpPr>
        <p:spPr>
          <a:xfrm>
            <a:off x="1630680" y="2034540"/>
            <a:ext cx="3416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Giảng viên · ngày dạy 3–4 slot</a:t>
            </a:r>
            <a:endParaRPr lang="en-US" sz="1200" dirty="0"/>
          </a:p>
        </p:txBody>
      </p:sp>
      <p:sp>
        <p:nvSpPr>
          <p:cNvPr id="8" name="Text 6"/>
          <p:cNvSpPr/>
          <p:nvPr/>
        </p:nvSpPr>
        <p:spPr>
          <a:xfrm>
            <a:off x="5074603" y="1875790"/>
            <a:ext cx="660718" cy="289560"/>
          </a:xfrm>
          <a:custGeom>
            <a:avLst/>
            <a:gdLst/>
            <a:ahLst/>
            <a:cxnLst/>
            <a:rect l="l" t="t" r="r" b="b"/>
            <a:pathLst>
              <a:path w="660718" h="289560">
                <a:moveTo>
                  <a:pt x="144780" y="0"/>
                </a:moveTo>
                <a:lnTo>
                  <a:pt x="515938" y="0"/>
                </a:lnTo>
                <a:arcTo hR="144780" wR="144780" stAng="16200000" swAng="5400000"/>
                <a:lnTo>
                  <a:pt x="660718" y="144780"/>
                </a:lnTo>
                <a:arcTo hR="144780" wR="144780" stAng="0" swAng="5400000"/>
                <a:lnTo>
                  <a:pt x="144780" y="289560"/>
                </a:lnTo>
                <a:arcTo hR="144780" wR="144780" stAng="5400000" swAng="5400000"/>
                <a:lnTo>
                  <a:pt x="0" y="144780"/>
                </a:lnTo>
                <a:arcTo hR="144780" wR="144780" stAng="10800000" swAng="5400000"/>
                <a:close/>
              </a:path>
            </a:pathLst>
          </a:custGeom>
          <a:solidFill>
            <a:srgbClr val="4254BA"/>
          </a:solidFill>
          <a:ln/>
        </p:spPr>
        <p:txBody>
          <a:bodyPr wrap="none" lIns="0" tIns="0" rIns="0" bIns="0" rtlCol="0" anchor="ctr">
            <a:normAutofit/>
          </a:bodyPr>
          <a:lstStyle/>
          <a:p>
            <a:pPr algn="ctr" indent="0" marL="0">
              <a:buNone/>
            </a:pPr>
            <a:r>
              <a:rPr lang="en-US" sz="1200" b="1" dirty="0">
                <a:solidFill>
                  <a:srgbClr val="FCFCFE"/>
                </a:solidFill>
                <a:latin typeface="Inter" pitchFamily="34" charset="0"/>
                <a:ea typeface="Inter" pitchFamily="34" charset="-122"/>
                <a:cs typeface="Inter" pitchFamily="34" charset="-120"/>
              </a:rPr>
              <a:t>Chính</a:t>
            </a:r>
            <a:endParaRPr lang="en-US" sz="1200" dirty="0"/>
          </a:p>
        </p:txBody>
      </p:sp>
      <p:sp>
        <p:nvSpPr>
          <p:cNvPr id="9" name="Shape 7"/>
          <p:cNvSpPr/>
          <p:nvPr/>
        </p:nvSpPr>
        <p:spPr>
          <a:xfrm>
            <a:off x="1065530" y="2401570"/>
            <a:ext cx="0" cy="487680"/>
          </a:xfrm>
          <a:prstGeom prst="line">
            <a:avLst/>
          </a:prstGeom>
          <a:noFill/>
          <a:ln w="38100">
            <a:solidFill>
              <a:srgbClr val="4254BA"/>
            </a:solidFill>
            <a:prstDash val="solid"/>
          </a:ln>
        </p:spPr>
      </p:sp>
      <p:sp>
        <p:nvSpPr>
          <p:cNvPr id="10" name="Text 8"/>
          <p:cNvSpPr/>
          <p:nvPr/>
        </p:nvSpPr>
        <p:spPr>
          <a:xfrm>
            <a:off x="1234440" y="2414270"/>
            <a:ext cx="46359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140"/>
                </a:solidFill>
                <a:latin typeface="Inter SemiBold" pitchFamily="34" charset="0"/>
                <a:ea typeface="Inter SemiBold" pitchFamily="34" charset="-122"/>
                <a:cs typeface="Inter SemiBold" pitchFamily="34" charset="-120"/>
              </a:rPr>
              <a:t>Cần điểm danh cả lớp mà không đọc tên từng người, và mở được cả khi chưa tới phòng.</a:t>
            </a:r>
            <a:endParaRPr lang="en-US" sz="1300" dirty="0"/>
          </a:p>
        </p:txBody>
      </p:sp>
      <p:pic>
        <p:nvPicPr>
          <p:cNvPr id="11" name="Image 0" descr="Clock">    </p:cNvPr>
          <p:cNvPicPr>
            <a:picLocks noChangeAspect="1"/>
          </p:cNvPicPr>
          <p:nvPr/>
        </p:nvPicPr>
        <p:blipFill>
          <a:blip r:embed="rId1"/>
          <a:srcRect l="0" r="0" t="0" b="0"/>
          <a:stretch/>
        </p:blipFill>
        <p:spPr>
          <a:xfrm>
            <a:off x="1046480" y="3046730"/>
            <a:ext cx="203200" cy="203200"/>
          </a:xfrm>
          <a:prstGeom prst="rect">
            <a:avLst/>
          </a:prstGeom>
        </p:spPr>
      </p:pic>
      <p:sp>
        <p:nvSpPr>
          <p:cNvPr id="12" name="Text 9"/>
          <p:cNvSpPr/>
          <p:nvPr/>
        </p:nvSpPr>
        <p:spPr>
          <a:xfrm>
            <a:off x="1351280" y="3041650"/>
            <a:ext cx="4381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Đọc tên 30 SV: 6–8 phút mỗi slot</a:t>
            </a:r>
            <a:endParaRPr lang="en-US" sz="1200" dirty="0"/>
          </a:p>
        </p:txBody>
      </p:sp>
      <p:pic>
        <p:nvPicPr>
          <p:cNvPr id="13" name="Image 1" descr="Map pin">    </p:cNvPr>
          <p:cNvPicPr>
            <a:picLocks noChangeAspect="1"/>
          </p:cNvPicPr>
          <p:nvPr/>
        </p:nvPicPr>
        <p:blipFill>
          <a:blip r:embed="rId2"/>
          <a:srcRect l="0" r="0" t="0" b="0"/>
          <a:stretch/>
        </p:blipFill>
        <p:spPr>
          <a:xfrm>
            <a:off x="1046480" y="3348990"/>
            <a:ext cx="203200" cy="203200"/>
          </a:xfrm>
          <a:prstGeom prst="rect">
            <a:avLst/>
          </a:prstGeom>
        </p:spPr>
      </p:pic>
      <p:sp>
        <p:nvSpPr>
          <p:cNvPr id="14" name="Text 10"/>
          <p:cNvSpPr/>
          <p:nvPr/>
        </p:nvSpPr>
        <p:spPr>
          <a:xfrm>
            <a:off x="1351280" y="3343910"/>
            <a:ext cx="4381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Phải đứng trong phòng mới bắt đầu được</a:t>
            </a:r>
            <a:endParaRPr lang="en-US" sz="1200" dirty="0"/>
          </a:p>
        </p:txBody>
      </p:sp>
      <p:pic>
        <p:nvPicPr>
          <p:cNvPr id="15" name="Image 2" descr="Users">    </p:cNvPr>
          <p:cNvPicPr>
            <a:picLocks noChangeAspect="1"/>
          </p:cNvPicPr>
          <p:nvPr/>
        </p:nvPicPr>
        <p:blipFill>
          <a:blip r:embed="rId3"/>
          <a:srcRect l="0" r="0" t="0" b="0"/>
          <a:stretch/>
        </p:blipFill>
        <p:spPr>
          <a:xfrm>
            <a:off x="1046480" y="3651250"/>
            <a:ext cx="203200" cy="203200"/>
          </a:xfrm>
          <a:prstGeom prst="rect">
            <a:avLst/>
          </a:prstGeom>
        </p:spPr>
      </p:pic>
      <p:sp>
        <p:nvSpPr>
          <p:cNvPr id="16" name="Text 11"/>
          <p:cNvSpPr/>
          <p:nvPr/>
        </p:nvSpPr>
        <p:spPr>
          <a:xfrm>
            <a:off x="1351280" y="3646170"/>
            <a:ext cx="4381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Bỏ đọc tên thì cần cách khác bắt quét hộ</a:t>
            </a:r>
            <a:endParaRPr lang="en-US" sz="1200" dirty="0"/>
          </a:p>
        </p:txBody>
      </p:sp>
      <p:sp>
        <p:nvSpPr>
          <p:cNvPr id="17" name="Shape 12"/>
          <p:cNvSpPr/>
          <p:nvPr/>
        </p:nvSpPr>
        <p:spPr>
          <a:xfrm>
            <a:off x="1046480" y="4015105"/>
            <a:ext cx="4688840" cy="0"/>
          </a:xfrm>
          <a:prstGeom prst="line">
            <a:avLst/>
          </a:prstGeom>
          <a:noFill/>
          <a:ln w="19050">
            <a:solidFill>
              <a:srgbClr val="C9CCDB"/>
            </a:solidFill>
            <a:prstDash val="solid"/>
          </a:ln>
        </p:spPr>
      </p:sp>
      <p:sp>
        <p:nvSpPr>
          <p:cNvPr id="18" name="Text 13"/>
          <p:cNvSpPr/>
          <p:nvPr/>
        </p:nvSpPr>
        <p:spPr>
          <a:xfrm>
            <a:off x="1046480" y="4144010"/>
            <a:ext cx="1545987"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4254BA"/>
                </a:solidFill>
                <a:latin typeface="Be Vietnam Pro" pitchFamily="34" charset="0"/>
                <a:ea typeface="Be Vietnam Pro" pitchFamily="34" charset="-122"/>
                <a:cs typeface="Be Vietnam Pro" pitchFamily="34" charset="-120"/>
              </a:rPr>
              <a:t>≤ 2:30</a:t>
            </a:r>
            <a:endParaRPr lang="en-US" sz="2000" dirty="0"/>
          </a:p>
        </p:txBody>
      </p:sp>
      <p:sp>
        <p:nvSpPr>
          <p:cNvPr id="19" name="Text 14"/>
          <p:cNvSpPr/>
          <p:nvPr/>
        </p:nvSpPr>
        <p:spPr>
          <a:xfrm>
            <a:off x="1046480" y="4537710"/>
            <a:ext cx="154598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TC-1 · từ lúc QR đóng tới xác nhận</a:t>
            </a:r>
            <a:endParaRPr lang="en-US" sz="1200" dirty="0"/>
          </a:p>
        </p:txBody>
      </p:sp>
      <p:sp>
        <p:nvSpPr>
          <p:cNvPr id="20" name="Text 15"/>
          <p:cNvSpPr/>
          <p:nvPr/>
        </p:nvSpPr>
        <p:spPr>
          <a:xfrm>
            <a:off x="2643267" y="4144010"/>
            <a:ext cx="1545987"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4254BA"/>
                </a:solidFill>
                <a:latin typeface="Be Vietnam Pro" pitchFamily="34" charset="0"/>
                <a:ea typeface="Be Vietnam Pro" pitchFamily="34" charset="-122"/>
                <a:cs typeface="Be Vietnam Pro" pitchFamily="34" charset="-120"/>
              </a:rPr>
              <a:t>Mở từ xa</a:t>
            </a:r>
            <a:endParaRPr lang="en-US" sz="2000" dirty="0"/>
          </a:p>
        </p:txBody>
      </p:sp>
      <p:sp>
        <p:nvSpPr>
          <p:cNvPr id="21" name="Text 16"/>
          <p:cNvSpPr/>
          <p:nvPr/>
        </p:nvSpPr>
        <p:spPr>
          <a:xfrm>
            <a:off x="2643267" y="4537710"/>
            <a:ext cx="154598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K1b · bấm mở từ điện thoại</a:t>
            </a:r>
            <a:endParaRPr lang="en-US" sz="1200" dirty="0"/>
          </a:p>
        </p:txBody>
      </p:sp>
      <p:sp>
        <p:nvSpPr>
          <p:cNvPr id="22" name="Text 17"/>
          <p:cNvSpPr/>
          <p:nvPr/>
        </p:nvSpPr>
        <p:spPr>
          <a:xfrm>
            <a:off x="4240054" y="4144010"/>
            <a:ext cx="1546066"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4254BA"/>
                </a:solidFill>
                <a:latin typeface="Be Vietnam Pro" pitchFamily="34" charset="0"/>
                <a:ea typeface="Be Vietnam Pro" pitchFamily="34" charset="-122"/>
                <a:cs typeface="Be Vietnam Pro" pitchFamily="34" charset="-120"/>
              </a:rPr>
              <a:t>Bắt được</a:t>
            </a:r>
            <a:endParaRPr lang="en-US" sz="2000" dirty="0"/>
          </a:p>
        </p:txBody>
      </p:sp>
      <p:sp>
        <p:nvSpPr>
          <p:cNvPr id="23" name="Text 18"/>
          <p:cNvSpPr/>
          <p:nvPr/>
        </p:nvSpPr>
        <p:spPr>
          <a:xfrm>
            <a:off x="4240054" y="4537710"/>
            <a:ext cx="154606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TC-7 · quét hộ, lúc đối chiếu</a:t>
            </a:r>
            <a:endParaRPr lang="en-US" sz="1200" dirty="0"/>
          </a:p>
        </p:txBody>
      </p:sp>
      <p:sp>
        <p:nvSpPr>
          <p:cNvPr id="24" name="Shape 19"/>
          <p:cNvSpPr/>
          <p:nvPr/>
        </p:nvSpPr>
        <p:spPr>
          <a:xfrm>
            <a:off x="6226175" y="1612265"/>
            <a:ext cx="5149850" cy="3526790"/>
          </a:xfrm>
          <a:prstGeom prst="roundRect">
            <a:avLst>
              <a:gd name="adj" fmla="val 2791"/>
            </a:avLst>
          </a:prstGeom>
          <a:solidFill>
            <a:srgbClr val="FCFCFE"/>
          </a:solidFill>
          <a:ln w="19050">
            <a:solidFill>
              <a:srgbClr val="C9CCDB"/>
            </a:solidFill>
            <a:prstDash val="solid"/>
          </a:ln>
        </p:spPr>
      </p:sp>
      <p:sp>
        <p:nvSpPr>
          <p:cNvPr id="25" name="Text 20"/>
          <p:cNvSpPr/>
          <p:nvPr/>
        </p:nvSpPr>
        <p:spPr>
          <a:xfrm>
            <a:off x="6456680" y="1791970"/>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E3F1EA"/>
          </a:solidFill>
          <a:ln/>
        </p:spPr>
        <p:txBody>
          <a:bodyPr wrap="square" lIns="0" tIns="0" rIns="0" bIns="0" rtlCol="0" anchor="ctr">
            <a:normAutofit/>
          </a:bodyPr>
          <a:lstStyle/>
          <a:p>
            <a:pPr algn="ctr" indent="0" marL="0">
              <a:buNone/>
            </a:pPr>
            <a:r>
              <a:rPr lang="en-US" sz="1400" b="1" dirty="0">
                <a:solidFill>
                  <a:srgbClr val="0D6E45"/>
                </a:solidFill>
                <a:latin typeface="Be Vietnam Pro" pitchFamily="34" charset="0"/>
                <a:ea typeface="Be Vietnam Pro" pitchFamily="34" charset="-122"/>
                <a:cs typeface="Be Vietnam Pro" pitchFamily="34" charset="-120"/>
              </a:rPr>
              <a:t>BT</a:t>
            </a:r>
            <a:endParaRPr lang="en-US" sz="1400" dirty="0"/>
          </a:p>
        </p:txBody>
      </p:sp>
      <p:sp>
        <p:nvSpPr>
          <p:cNvPr id="26" name="Text 21"/>
          <p:cNvSpPr/>
          <p:nvPr/>
        </p:nvSpPr>
        <p:spPr>
          <a:xfrm>
            <a:off x="7040880" y="1793240"/>
            <a:ext cx="35680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140"/>
                </a:solidFill>
                <a:latin typeface="Be Vietnam Pro" pitchFamily="34" charset="0"/>
                <a:ea typeface="Be Vietnam Pro" pitchFamily="34" charset="-122"/>
                <a:cs typeface="Be Vietnam Pro" pitchFamily="34" charset="-120"/>
              </a:rPr>
              <a:t>P-02 · Bảo Trâm</a:t>
            </a:r>
            <a:endParaRPr lang="en-US" sz="1500" dirty="0"/>
          </a:p>
        </p:txBody>
      </p:sp>
      <p:sp>
        <p:nvSpPr>
          <p:cNvPr id="27" name="Text 22"/>
          <p:cNvSpPr/>
          <p:nvPr/>
        </p:nvSpPr>
        <p:spPr>
          <a:xfrm>
            <a:off x="7040880" y="2034540"/>
            <a:ext cx="35680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Sinh viên năm 2 · Android, 4G</a:t>
            </a:r>
            <a:endParaRPr lang="en-US" sz="1200" dirty="0"/>
          </a:p>
        </p:txBody>
      </p:sp>
      <p:sp>
        <p:nvSpPr>
          <p:cNvPr id="28" name="Text 23"/>
          <p:cNvSpPr/>
          <p:nvPr/>
        </p:nvSpPr>
        <p:spPr>
          <a:xfrm>
            <a:off x="10631964" y="1875790"/>
            <a:ext cx="513556" cy="289560"/>
          </a:xfrm>
          <a:custGeom>
            <a:avLst/>
            <a:gdLst/>
            <a:ahLst/>
            <a:cxnLst/>
            <a:rect l="l" t="t" r="r" b="b"/>
            <a:pathLst>
              <a:path w="513556" h="289560">
                <a:moveTo>
                  <a:pt x="144780" y="0"/>
                </a:moveTo>
                <a:lnTo>
                  <a:pt x="368776" y="0"/>
                </a:lnTo>
                <a:arcTo hR="144780" wR="144780" stAng="16200000" swAng="5400000"/>
                <a:lnTo>
                  <a:pt x="513556" y="144780"/>
                </a:lnTo>
                <a:arcTo hR="144780" wR="144780" stAng="0" swAng="5400000"/>
                <a:lnTo>
                  <a:pt x="144780" y="289560"/>
                </a:lnTo>
                <a:arcTo hR="144780" wR="144780" stAng="5400000" swAng="5400000"/>
                <a:lnTo>
                  <a:pt x="0" y="144780"/>
                </a:lnTo>
                <a:arcTo hR="144780" wR="144780" stAng="10800000" swAng="5400000"/>
                <a:close/>
              </a:path>
            </a:pathLst>
          </a:custGeom>
          <a:solidFill>
            <a:srgbClr val="E3F1EA"/>
          </a:solidFill>
          <a:ln/>
        </p:spPr>
        <p:txBody>
          <a:bodyPr wrap="none" lIns="0" tIns="0" rIns="0" bIns="0" rtlCol="0" anchor="ctr">
            <a:normAutofit/>
          </a:bodyPr>
          <a:lstStyle/>
          <a:p>
            <a:pPr algn="ctr" indent="0" marL="0">
              <a:buNone/>
            </a:pPr>
            <a:r>
              <a:rPr lang="en-US" sz="1200" b="1" dirty="0">
                <a:solidFill>
                  <a:srgbClr val="0D6E45"/>
                </a:solidFill>
                <a:latin typeface="Inter" pitchFamily="34" charset="0"/>
                <a:ea typeface="Inter" pitchFamily="34" charset="-122"/>
                <a:cs typeface="Inter" pitchFamily="34" charset="-120"/>
              </a:rPr>
              <a:t>Phụ</a:t>
            </a:r>
            <a:endParaRPr lang="en-US" sz="1200" dirty="0"/>
          </a:p>
        </p:txBody>
      </p:sp>
      <p:sp>
        <p:nvSpPr>
          <p:cNvPr id="29" name="Shape 24"/>
          <p:cNvSpPr/>
          <p:nvPr/>
        </p:nvSpPr>
        <p:spPr>
          <a:xfrm>
            <a:off x="6475730" y="2401570"/>
            <a:ext cx="0" cy="487680"/>
          </a:xfrm>
          <a:prstGeom prst="line">
            <a:avLst/>
          </a:prstGeom>
          <a:noFill/>
          <a:ln w="38100">
            <a:solidFill>
              <a:srgbClr val="0D6E45"/>
            </a:solidFill>
            <a:prstDash val="solid"/>
          </a:ln>
        </p:spPr>
      </p:sp>
      <p:sp>
        <p:nvSpPr>
          <p:cNvPr id="30" name="Text 25"/>
          <p:cNvSpPr/>
          <p:nvPr/>
        </p:nvSpPr>
        <p:spPr>
          <a:xfrm>
            <a:off x="6644640" y="2414270"/>
            <a:ext cx="46359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140"/>
                </a:solidFill>
                <a:latin typeface="Inter SemiBold" pitchFamily="34" charset="0"/>
                <a:ea typeface="Inter SemiBold" pitchFamily="34" charset="-122"/>
                <a:cs typeface="Inter SemiBold" pitchFamily="34" charset="-120"/>
              </a:rPr>
              <a:t>Quét xong là thấy mình được ghi nhận; bị ghi sai thì báo được thầy trước 23:59 hôm đó.</a:t>
            </a:r>
            <a:endParaRPr lang="en-US" sz="1300" dirty="0"/>
          </a:p>
        </p:txBody>
      </p:sp>
      <p:pic>
        <p:nvPicPr>
          <p:cNvPr id="31" name="Image 3" descr="Warning">    </p:cNvPr>
          <p:cNvPicPr>
            <a:picLocks noChangeAspect="1"/>
          </p:cNvPicPr>
          <p:nvPr/>
        </p:nvPicPr>
        <p:blipFill>
          <a:blip r:embed="rId4"/>
          <a:srcRect l="0" r="0" t="0" b="0"/>
          <a:stretch/>
        </p:blipFill>
        <p:spPr>
          <a:xfrm>
            <a:off x="6456680" y="3046730"/>
            <a:ext cx="203200" cy="203200"/>
          </a:xfrm>
          <a:prstGeom prst="rect">
            <a:avLst/>
          </a:prstGeom>
        </p:spPr>
      </p:pic>
      <p:sp>
        <p:nvSpPr>
          <p:cNvPr id="32" name="Text 26"/>
          <p:cNvSpPr/>
          <p:nvPr/>
        </p:nvSpPr>
        <p:spPr>
          <a:xfrm>
            <a:off x="6761480" y="3041650"/>
            <a:ext cx="40742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Trong lớp không tự kiểm được mình được ghi gì</a:t>
            </a:r>
            <a:endParaRPr lang="en-US" sz="1200" dirty="0"/>
          </a:p>
        </p:txBody>
      </p:sp>
      <p:pic>
        <p:nvPicPr>
          <p:cNvPr id="33" name="Image 4" descr="Clock">    </p:cNvPr>
          <p:cNvPicPr>
            <a:picLocks noChangeAspect="1"/>
          </p:cNvPicPr>
          <p:nvPr/>
        </p:nvPicPr>
        <p:blipFill>
          <a:blip r:embed="rId5"/>
          <a:srcRect l="0" r="0" t="0" b="0"/>
          <a:stretch/>
        </p:blipFill>
        <p:spPr>
          <a:xfrm>
            <a:off x="6456680" y="3348990"/>
            <a:ext cx="203200" cy="203200"/>
          </a:xfrm>
          <a:prstGeom prst="rect">
            <a:avLst/>
          </a:prstGeom>
        </p:spPr>
      </p:pic>
      <p:sp>
        <p:nvSpPr>
          <p:cNvPr id="34" name="Text 27"/>
          <p:cNvSpPr/>
          <p:nvPr/>
        </p:nvSpPr>
        <p:spPr>
          <a:xfrm>
            <a:off x="6761480" y="3343910"/>
            <a:ext cx="35058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“Chưa điểm danh” tới tối mới thành Vắng</a:t>
            </a:r>
            <a:endParaRPr lang="en-US" sz="1200" dirty="0"/>
          </a:p>
        </p:txBody>
      </p:sp>
      <p:pic>
        <p:nvPicPr>
          <p:cNvPr id="35" name="Image 5" descr="Chat">    </p:cNvPr>
          <p:cNvPicPr>
            <a:picLocks noChangeAspect="1"/>
          </p:cNvPicPr>
          <p:nvPr/>
        </p:nvPicPr>
        <p:blipFill>
          <a:blip r:embed="rId6"/>
          <a:srcRect l="0" r="0" t="0" b="0"/>
          <a:stretch/>
        </p:blipFill>
        <p:spPr>
          <a:xfrm>
            <a:off x="6456680" y="3651250"/>
            <a:ext cx="203200" cy="203200"/>
          </a:xfrm>
          <a:prstGeom prst="rect">
            <a:avLst/>
          </a:prstGeom>
        </p:spPr>
      </p:pic>
      <p:sp>
        <p:nvSpPr>
          <p:cNvPr id="36" name="Text 28"/>
          <p:cNvSpPr/>
          <p:nvPr/>
        </p:nvSpPr>
        <p:spPr>
          <a:xfrm>
            <a:off x="6761480" y="3646170"/>
            <a:ext cx="32924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Không biết lời báo sai đã tới thầy chưa</a:t>
            </a:r>
            <a:endParaRPr lang="en-US" sz="1200" dirty="0"/>
          </a:p>
        </p:txBody>
      </p:sp>
      <p:sp>
        <p:nvSpPr>
          <p:cNvPr id="37" name="Shape 29"/>
          <p:cNvSpPr/>
          <p:nvPr/>
        </p:nvSpPr>
        <p:spPr>
          <a:xfrm>
            <a:off x="6456680" y="4015105"/>
            <a:ext cx="4688840" cy="0"/>
          </a:xfrm>
          <a:prstGeom prst="line">
            <a:avLst/>
          </a:prstGeom>
          <a:noFill/>
          <a:ln w="19050">
            <a:solidFill>
              <a:srgbClr val="C9CCDB"/>
            </a:solidFill>
            <a:prstDash val="solid"/>
          </a:ln>
        </p:spPr>
      </p:sp>
      <p:sp>
        <p:nvSpPr>
          <p:cNvPr id="38" name="Text 30"/>
          <p:cNvSpPr/>
          <p:nvPr/>
        </p:nvSpPr>
        <p:spPr>
          <a:xfrm>
            <a:off x="6456680" y="4144010"/>
            <a:ext cx="1545987"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0D6E45"/>
                </a:solidFill>
                <a:latin typeface="Be Vietnam Pro" pitchFamily="34" charset="0"/>
                <a:ea typeface="Be Vietnam Pro" pitchFamily="34" charset="-122"/>
                <a:cs typeface="Be Vietnam Pro" pitchFamily="34" charset="-120"/>
              </a:rPr>
              <a:t>≤ 2 chạm</a:t>
            </a:r>
            <a:endParaRPr lang="en-US" sz="2000" dirty="0"/>
          </a:p>
        </p:txBody>
      </p:sp>
      <p:sp>
        <p:nvSpPr>
          <p:cNvPr id="39" name="Text 31"/>
          <p:cNvSpPr/>
          <p:nvPr/>
        </p:nvSpPr>
        <p:spPr>
          <a:xfrm>
            <a:off x="6456680" y="4537710"/>
            <a:ext cx="154598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TC-4 · thấy trạng thái chính thức</a:t>
            </a:r>
            <a:endParaRPr lang="en-US" sz="1200" dirty="0"/>
          </a:p>
        </p:txBody>
      </p:sp>
      <p:sp>
        <p:nvSpPr>
          <p:cNvPr id="40" name="Text 32"/>
          <p:cNvSpPr/>
          <p:nvPr/>
        </p:nvSpPr>
        <p:spPr>
          <a:xfrm>
            <a:off x="8053467" y="4144010"/>
            <a:ext cx="1545987"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0D6E45"/>
                </a:solidFill>
                <a:latin typeface="Be Vietnam Pro" pitchFamily="34" charset="0"/>
                <a:ea typeface="Be Vietnam Pro" pitchFamily="34" charset="-122"/>
                <a:cs typeface="Be Vietnam Pro" pitchFamily="34" charset="-120"/>
              </a:rPr>
              <a:t>≤ 1 phút</a:t>
            </a:r>
            <a:endParaRPr lang="en-US" sz="2000" dirty="0"/>
          </a:p>
        </p:txBody>
      </p:sp>
      <p:sp>
        <p:nvSpPr>
          <p:cNvPr id="41" name="Text 33"/>
          <p:cNvSpPr/>
          <p:nvPr/>
        </p:nvSpPr>
        <p:spPr>
          <a:xfrm>
            <a:off x="8053467" y="4537710"/>
            <a:ext cx="154598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TC-5 · gửi xong một báo sai</a:t>
            </a:r>
            <a:endParaRPr lang="en-US" sz="1200" dirty="0"/>
          </a:p>
        </p:txBody>
      </p:sp>
      <p:sp>
        <p:nvSpPr>
          <p:cNvPr id="42" name="Text 34"/>
          <p:cNvSpPr/>
          <p:nvPr/>
        </p:nvSpPr>
        <p:spPr>
          <a:xfrm>
            <a:off x="9650254" y="4144010"/>
            <a:ext cx="1546066"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0D6E45"/>
                </a:solidFill>
                <a:latin typeface="Be Vietnam Pro" pitchFamily="34" charset="0"/>
                <a:ea typeface="Be Vietnam Pro" pitchFamily="34" charset="-122"/>
                <a:cs typeface="Be Vietnam Pro" pitchFamily="34" charset="-120"/>
              </a:rPr>
              <a:t>Tự biết</a:t>
            </a:r>
            <a:endParaRPr lang="en-US" sz="2000" dirty="0"/>
          </a:p>
        </p:txBody>
      </p:sp>
      <p:sp>
        <p:nvSpPr>
          <p:cNvPr id="43" name="Text 35"/>
          <p:cNvSpPr/>
          <p:nvPr/>
        </p:nvSpPr>
        <p:spPr>
          <a:xfrm>
            <a:off x="9650254" y="4537710"/>
            <a:ext cx="154606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TC-6 · cách khiếu nại khi quá hạn</a:t>
            </a:r>
            <a:endParaRPr lang="en-US" sz="1200" dirty="0"/>
          </a:p>
        </p:txBody>
      </p:sp>
      <p:sp>
        <p:nvSpPr>
          <p:cNvPr id="44" name="Text 36"/>
          <p:cNvSpPr/>
          <p:nvPr/>
        </p:nvSpPr>
        <p:spPr>
          <a:xfrm>
            <a:off x="812800" y="6238241"/>
            <a:ext cx="9906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10">
                  <a:extLst>
                    <a:ext uri="{A12FA001-AC4F-418D-AE19-62706E023703}">
                      <ahyp:hlinkClr xmlns:ahyp="http://schemas.microsoft.com/office/drawing/2018/hyperlinkcolor" val="tx"/>
                    </a:ext>
                  </a:extLst>
                </a:hlinkClick>
              </a:rPr>
              <a:t>ux/persona.md</a:t>
            </a:r>
            <a:r>
              <a:rPr lang="en-US" sz="1200" dirty="0">
                <a:solidFill>
                  <a:srgbClr val="6B7085"/>
                </a:solidFill>
                <a:latin typeface="Inter Medium" pitchFamily="34" charset="0"/>
                <a:ea typeface="Inter Medium" pitchFamily="34" charset="-122"/>
                <a:cs typeface="Inter Medium" pitchFamily="34" charset="-120"/>
              </a:rPr>
              <a:t> · đề GVHD và app thật (</a:t>
            </a:r>
            <a:r>
              <a:rPr lang="en-US" sz="1200" dirty="0" u="sng">
                <a:solidFill>
                  <a:srgbClr val="4254BA"/>
                </a:solidFill>
                <a:latin typeface="Inter Medium" pitchFamily="34" charset="0"/>
                <a:ea typeface="Inter Medium" pitchFamily="34" charset="-122"/>
                <a:cs typeface="Inter Medium" pitchFamily="34" charset="-120"/>
                <a:hlinkClick r:id="rId11">
                  <a:extLst>
                    <a:ext uri="{A12FA001-AC4F-418D-AE19-62706E023703}">
                      <ahyp:hlinkClr xmlns:ahyp="http://schemas.microsoft.com/office/drawing/2018/hyperlinkcolor" val="tx"/>
                    </a:ext>
                  </a:extLst>
                </a:hlinkClick>
              </a:rPr>
              <a:t>D-19</a:t>
            </a:r>
            <a:r>
              <a:rPr lang="en-US" sz="1200" dirty="0">
                <a:solidFill>
                  <a:srgbClr val="6B7085"/>
                </a:solidFill>
                <a:latin typeface="Inter Medium" pitchFamily="34" charset="0"/>
                <a:ea typeface="Inter Medium" pitchFamily="34" charset="-122"/>
                <a:cs typeface="Inter Medium" pitchFamily="34" charset="-120"/>
              </a:rPr>
              <a:t>) · 6–8 phút: </a:t>
            </a:r>
            <a:r>
              <a:rPr lang="en-US" sz="1200" dirty="0" u="sng">
                <a:solidFill>
                  <a:srgbClr val="4254BA"/>
                </a:solidFill>
                <a:latin typeface="Inter Medium" pitchFamily="34" charset="0"/>
                <a:ea typeface="Inter Medium" pitchFamily="34" charset="-122"/>
                <a:cs typeface="Inter Medium" pitchFamily="34" charset="-120"/>
                <a:hlinkClick r:id="rId12">
                  <a:extLst>
                    <a:ext uri="{A12FA001-AC4F-418D-AE19-62706E023703}">
                      <ahyp:hlinkClr xmlns:ahyp="http://schemas.microsoft.com/office/drawing/2018/hyperlinkcolor" val="tx"/>
                    </a:ext>
                  </a:extLst>
                </a:hlinkClick>
              </a:rPr>
              <a:t>Q08</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13">
                  <a:extLst>
                    <a:ext uri="{A12FA001-AC4F-418D-AE19-62706E023703}">
                      <ahyp:hlinkClr xmlns:ahyp="http://schemas.microsoft.com/office/drawing/2018/hyperlinkcolor" val="tx"/>
                    </a:ext>
                  </a:extLst>
                </a:hlinkClick>
              </a:rPr>
              <a:t>phỏng vấn mô phỏng</a:t>
            </a:r>
            <a:r>
              <a:rPr lang="en-US" sz="1200" dirty="0">
                <a:solidFill>
                  <a:srgbClr val="6B7085"/>
                </a:solidFill>
                <a:latin typeface="Inter Medium" pitchFamily="34" charset="0"/>
                <a:ea typeface="Inter Medium" pitchFamily="34" charset="-122"/>
                <a:cs typeface="Inter Medium" pitchFamily="34" charset="-120"/>
              </a:rPr>
              <a:t> (</a:t>
            </a:r>
            <a:r>
              <a:rPr lang="en-US" sz="1200" dirty="0" u="sng">
                <a:solidFill>
                  <a:srgbClr val="4254BA"/>
                </a:solidFill>
                <a:latin typeface="Inter Medium" pitchFamily="34" charset="0"/>
                <a:ea typeface="Inter Medium" pitchFamily="34" charset="-122"/>
                <a:cs typeface="Inter Medium" pitchFamily="34" charset="-120"/>
                <a:hlinkClick r:id="rId11">
                  <a:extLst>
                    <a:ext uri="{A12FA001-AC4F-418D-AE19-62706E023703}">
                      <ahyp:hlinkClr xmlns:ahyp="http://schemas.microsoft.com/office/drawing/2018/hyperlinkcolor" val="tx"/>
                    </a:ext>
                  </a:extLst>
                </a:hlinkClick>
              </a:rPr>
              <a:t>D-05</a:t>
            </a:r>
            <a:r>
              <a:rPr lang="en-US" sz="1200" dirty="0">
                <a:solidFill>
                  <a:srgbClr val="6B7085"/>
                </a:solidFill>
                <a:latin typeface="Inter Medium" pitchFamily="34" charset="0"/>
                <a:ea typeface="Inter Medium" pitchFamily="34" charset="-122"/>
                <a:cs typeface="Inter Medium" pitchFamily="34" charset="-120"/>
              </a:rPr>
              <a:t>) · ngưỡng là giả định</a:t>
            </a:r>
            <a:endParaRPr lang="en-US" sz="1200" dirty="0"/>
          </a:p>
        </p:txBody>
      </p:sp>
      <p:sp>
        <p:nvSpPr>
          <p:cNvPr id="45" name="Text 37"/>
          <p:cNvSpPr/>
          <p:nvPr/>
        </p:nvSpPr>
        <p:spPr>
          <a:xfrm>
            <a:off x="10912951" y="6238241"/>
            <a:ext cx="46624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2 / 12</a:t>
            </a:r>
            <a:endParaRPr lang="en-US" sz="1200" dirty="0"/>
          </a:p>
        </p:txBody>
      </p:sp>
      <p:sp>
        <p:nvSpPr>
          <p:cNvPr id="46" name="Shape 38"/>
          <p:cNvSpPr/>
          <p:nvPr/>
        </p:nvSpPr>
        <p:spPr>
          <a:xfrm>
            <a:off x="812800" y="5308600"/>
            <a:ext cx="10566400" cy="457200"/>
          </a:xfrm>
          <a:prstGeom prst="roundRect">
            <a:avLst>
              <a:gd name="adj" fmla="val 22000"/>
            </a:avLst>
          </a:prstGeom>
          <a:solidFill>
            <a:srgbClr val="FCFCFE"/>
          </a:solidFill>
          <a:ln w="19050">
            <a:solidFill>
              <a:srgbClr val="C9CCDB"/>
            </a:solidFill>
            <a:prstDash val="solid"/>
          </a:ln>
        </p:spPr>
      </p:sp>
      <p:pic>
        <p:nvPicPr>
          <p:cNvPr id="47" name="Image 6" descr="Shield check">    </p:cNvPr>
          <p:cNvPicPr>
            <a:picLocks noChangeAspect="1"/>
          </p:cNvPicPr>
          <p:nvPr/>
        </p:nvPicPr>
        <p:blipFill>
          <a:blip r:embed="rId9"/>
          <a:srcRect l="0" r="0" t="0" b="0"/>
          <a:stretch/>
        </p:blipFill>
        <p:spPr>
          <a:xfrm>
            <a:off x="1041400" y="5435600"/>
            <a:ext cx="203200" cy="203200"/>
          </a:xfrm>
          <a:prstGeom prst="rect">
            <a:avLst/>
          </a:prstGeom>
        </p:spPr>
      </p:pic>
      <p:sp>
        <p:nvSpPr>
          <p:cNvPr id="48" name="Text 38"/>
          <p:cNvSpPr/>
          <p:nvPr/>
        </p:nvSpPr>
        <p:spPr>
          <a:xfrm>
            <a:off x="1346200" y="5308600"/>
            <a:ext cx="9842500" cy="457200"/>
          </a:xfrm>
          <a:prstGeom prst="rect">
            <a:avLst/>
          </a:prstGeom>
          <a:noFill/>
          <a:ln/>
        </p:spPr>
        <p:txBody>
          <a:bodyPr wrap="square" lIns="0" tIns="0" rIns="0" bIns="0" rtlCol="0" anchor="ctr">
            <a:normAutofit/>
          </a:bodyPr>
          <a:lstStyle/>
          <a:p>
            <a:pPr algn="l" indent="0" marL="0">
              <a:buNone/>
            </a:pPr>
            <a:r>
              <a:rPr lang="en-US" sz="1200" b="1" dirty="0">
                <a:solidFill>
                  <a:srgbClr val="1B2140"/>
                </a:solidFill>
                <a:latin typeface="Inter" pitchFamily="34" charset="0"/>
                <a:ea typeface="Inter" pitchFamily="34" charset="-122"/>
                <a:cs typeface="Inter" pitchFamily="34" charset="-120"/>
              </a:rPr>
              <a:t>Mở từ xa có bị quét hộ? </a:t>
            </a:r>
            <a:r>
              <a:rPr lang="en-US" sz="1200" dirty="0">
                <a:solidFill>
                  <a:srgbClr val="4A5068"/>
                </a:solidFill>
                <a:latin typeface="Inter SemiBold" pitchFamily="34" charset="0"/>
                <a:ea typeface="Inter SemiBold" pitchFamily="34" charset="-122"/>
                <a:cs typeface="Inter SemiBold" pitchFamily="34" charset="-120"/>
              </a:rPr>
              <a:t>QR chỉ hiện trên TV trong phòng, và phiên chờ thầy tới xác nhận mới điền lên FAP (</a:t>
            </a:r>
            <a:r>
              <a:rPr lang="en-US" sz="1200" dirty="0" u="sng">
                <a:solidFill>
                  <a:srgbClr val="4254BA"/>
                </a:solidFill>
                <a:latin typeface="Inter SemiBold" pitchFamily="34" charset="0"/>
                <a:ea typeface="Inter SemiBold" pitchFamily="34" charset="-122"/>
                <a:cs typeface="Inter SemiBold" pitchFamily="34" charset="-120"/>
                <a:hlinkClick r:id="rId11">
                  <a:extLst>
                    <a:ext uri="{A12FA001-AC4F-418D-AE19-62706E023703}">
                      <ahyp:hlinkClr xmlns:ahyp="http://schemas.microsoft.com/office/drawing/2018/hyperlinkcolor" val="tx"/>
                    </a:ext>
                  </a:extLst>
                </a:hlinkClick>
              </a:rPr>
              <a:t>D-24</a:t>
            </a:r>
            <a:r>
              <a:rPr lang="en-US" sz="1200" dirty="0">
                <a:solidFill>
                  <a:srgbClr val="4A5068"/>
                </a:solidFill>
                <a:latin typeface="Inter SemiBold" pitchFamily="34" charset="0"/>
                <a:ea typeface="Inter SemiBold" pitchFamily="34" charset="-122"/>
                <a:cs typeface="Inter SemiBold" pitchFamily="34" charset="-120"/>
              </a:rPr>
              <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Cách giải · Kiến trúc thông tin</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15 màn, mỗi vai trò chỉ hai tab</a:t>
            </a:r>
            <a:endParaRPr lang="en-US" sz="2600" dirty="0"/>
          </a:p>
        </p:txBody>
      </p:sp>
      <p:sp>
        <p:nvSpPr>
          <p:cNvPr id="4" name="Text 2"/>
          <p:cNvSpPr/>
          <p:nvPr/>
        </p:nvSpPr>
        <p:spPr>
          <a:xfrm>
            <a:off x="4278313" y="1640841"/>
            <a:ext cx="3635296" cy="332740"/>
          </a:xfrm>
          <a:prstGeom prst="roundRect">
            <a:avLst>
              <a:gd name="adj" fmla="val 17176"/>
            </a:avLst>
          </a:prstGeom>
          <a:solidFill>
            <a:srgbClr val="ECEEF8"/>
          </a:solidFill>
          <a:ln w="19050">
            <a:solidFill>
              <a:srgbClr val="4254BA"/>
            </a:solidFill>
            <a:prstDash val="solid"/>
          </a:ln>
        </p:spPr>
        <p:txBody>
          <a:bodyPr wrap="none" lIns="0" tIns="0" rIns="0" bIns="0" rtlCol="0" anchor="ctr">
            <a:normAutofit/>
          </a:bodyPr>
          <a:lstStyle/>
          <a:p>
            <a:pPr algn="ctr" indent="0" marL="0">
              <a:buNone/>
            </a:pPr>
            <a:r>
              <a:rPr lang="en-US" sz="1200" b="1" dirty="0">
                <a:solidFill>
                  <a:srgbClr val="1B2140"/>
                </a:solidFill>
                <a:latin typeface="Inter" pitchFamily="34" charset="0"/>
                <a:ea typeface="Inter" pitchFamily="34" charset="-122"/>
                <a:cs typeface="Inter" pitchFamily="34" charset="-120"/>
              </a:rPr>
              <a:t>SC-01 Đăng nhập</a:t>
            </a:r>
            <a:r>
              <a:rPr lang="en-US" sz="1200" dirty="0">
                <a:solidFill>
                  <a:srgbClr val="1B2140"/>
                </a:solidFill>
                <a:latin typeface="Inter SemiBold" pitchFamily="34" charset="0"/>
                <a:ea typeface="Inter SemiBold" pitchFamily="34" charset="-122"/>
                <a:cs typeface="Inter SemiBold" pitchFamily="34" charset="-120"/>
              </a:rPr>
              <a:t> · tài khoản quyết định vai trò</a:t>
            </a:r>
            <a:endParaRPr lang="en-US" sz="1200" dirty="0"/>
          </a:p>
        </p:txBody>
      </p:sp>
      <p:sp>
        <p:nvSpPr>
          <p:cNvPr id="5" name="Shape 3"/>
          <p:cNvSpPr/>
          <p:nvPr/>
        </p:nvSpPr>
        <p:spPr>
          <a:xfrm>
            <a:off x="812800" y="2145030"/>
            <a:ext cx="5130800" cy="0"/>
          </a:xfrm>
          <a:prstGeom prst="line">
            <a:avLst/>
          </a:prstGeom>
          <a:noFill/>
          <a:ln w="28575">
            <a:solidFill>
              <a:srgbClr val="4254BA"/>
            </a:solidFill>
            <a:prstDash val="solid"/>
          </a:ln>
        </p:spPr>
      </p:sp>
      <p:sp>
        <p:nvSpPr>
          <p:cNvPr id="6" name="Text 4"/>
          <p:cNvSpPr/>
          <p:nvPr/>
        </p:nvSpPr>
        <p:spPr>
          <a:xfrm>
            <a:off x="812800" y="225933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Giảng viên · P-01</a:t>
            </a:r>
            <a:endParaRPr lang="en-US" sz="1200" dirty="0"/>
          </a:p>
        </p:txBody>
      </p:sp>
      <p:sp>
        <p:nvSpPr>
          <p:cNvPr id="7" name="Text 5"/>
          <p:cNvSpPr/>
          <p:nvPr/>
        </p:nvSpPr>
        <p:spPr>
          <a:xfrm>
            <a:off x="812800" y="2548891"/>
            <a:ext cx="257695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Tab Hôm nay</a:t>
            </a:r>
            <a:endParaRPr lang="en-US" sz="1200" dirty="0"/>
          </a:p>
        </p:txBody>
      </p:sp>
      <p:sp>
        <p:nvSpPr>
          <p:cNvPr id="8" name="Text 6"/>
          <p:cNvSpPr/>
          <p:nvPr/>
        </p:nvSpPr>
        <p:spPr>
          <a:xfrm>
            <a:off x="815975" y="282892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SC-02 Lịch dạy hôm nay</a:t>
            </a:r>
            <a:endParaRPr lang="en-US" sz="1200" dirty="0"/>
          </a:p>
        </p:txBody>
      </p:sp>
      <p:sp>
        <p:nvSpPr>
          <p:cNvPr id="9" name="Text 7"/>
          <p:cNvSpPr/>
          <p:nvPr/>
        </p:nvSpPr>
        <p:spPr>
          <a:xfrm>
            <a:off x="815975" y="322770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SC-03 Phiên điểm danh</a:t>
            </a:r>
            <a:endParaRPr lang="en-US" sz="1200" dirty="0"/>
          </a:p>
        </p:txBody>
      </p:sp>
      <p:sp>
        <p:nvSpPr>
          <p:cNvPr id="10" name="Text 8"/>
          <p:cNvSpPr/>
          <p:nvPr/>
        </p:nvSpPr>
        <p:spPr>
          <a:xfrm>
            <a:off x="815975" y="3626486"/>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SC-04 Đối chiếu sĩ số</a:t>
            </a:r>
            <a:endParaRPr lang="en-US" sz="1200" dirty="0"/>
          </a:p>
        </p:txBody>
      </p:sp>
      <p:sp>
        <p:nvSpPr>
          <p:cNvPr id="11" name="Text 9"/>
          <p:cNvSpPr/>
          <p:nvPr/>
        </p:nvSpPr>
        <p:spPr>
          <a:xfrm>
            <a:off x="815975" y="4025266"/>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SC-05 Kiểm tra ngẫu nhiên</a:t>
            </a:r>
            <a:endParaRPr lang="en-US" sz="1200" dirty="0"/>
          </a:p>
        </p:txBody>
      </p:sp>
      <p:sp>
        <p:nvSpPr>
          <p:cNvPr id="12" name="Text 10"/>
          <p:cNvSpPr/>
          <p:nvPr/>
        </p:nvSpPr>
        <p:spPr>
          <a:xfrm>
            <a:off x="815975" y="442404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SC-06 Xem lại, xác nhận</a:t>
            </a:r>
            <a:endParaRPr lang="en-US" sz="1200" dirty="0"/>
          </a:p>
        </p:txBody>
      </p:sp>
      <p:sp>
        <p:nvSpPr>
          <p:cNvPr id="13" name="Text 11"/>
          <p:cNvSpPr/>
          <p:nvPr/>
        </p:nvSpPr>
        <p:spPr>
          <a:xfrm>
            <a:off x="3441700" y="2548891"/>
            <a:ext cx="257695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Tab Báo sai</a:t>
            </a:r>
            <a:endParaRPr lang="en-US" sz="1200" dirty="0"/>
          </a:p>
        </p:txBody>
      </p:sp>
      <p:sp>
        <p:nvSpPr>
          <p:cNvPr id="14" name="Text 12"/>
          <p:cNvSpPr/>
          <p:nvPr/>
        </p:nvSpPr>
        <p:spPr>
          <a:xfrm>
            <a:off x="3444875" y="282892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SC-07 Báo sai hôm nay</a:t>
            </a:r>
            <a:endParaRPr lang="en-US" sz="1200" dirty="0"/>
          </a:p>
        </p:txBody>
      </p:sp>
      <p:sp>
        <p:nvSpPr>
          <p:cNvPr id="15" name="Text 13"/>
          <p:cNvSpPr/>
          <p:nvPr/>
        </p:nvSpPr>
        <p:spPr>
          <a:xfrm>
            <a:off x="3444875" y="322770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SC-08 Chi tiết báo sai</a:t>
            </a:r>
            <a:endParaRPr lang="en-US" sz="1200" dirty="0"/>
          </a:p>
        </p:txBody>
      </p:sp>
      <p:sp>
        <p:nvSpPr>
          <p:cNvPr id="16" name="Shape 14"/>
          <p:cNvSpPr/>
          <p:nvPr/>
        </p:nvSpPr>
        <p:spPr>
          <a:xfrm>
            <a:off x="6248400" y="2145030"/>
            <a:ext cx="5130800" cy="0"/>
          </a:xfrm>
          <a:prstGeom prst="line">
            <a:avLst/>
          </a:prstGeom>
          <a:noFill/>
          <a:ln w="28575">
            <a:solidFill>
              <a:srgbClr val="9A3412"/>
            </a:solidFill>
            <a:prstDash val="solid"/>
          </a:ln>
        </p:spPr>
      </p:sp>
      <p:sp>
        <p:nvSpPr>
          <p:cNvPr id="17" name="Text 15"/>
          <p:cNvSpPr/>
          <p:nvPr/>
        </p:nvSpPr>
        <p:spPr>
          <a:xfrm>
            <a:off x="6248400" y="225933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3412"/>
                </a:solidFill>
                <a:latin typeface="Inter" pitchFamily="34" charset="0"/>
                <a:ea typeface="Inter" pitchFamily="34" charset="-122"/>
                <a:cs typeface="Inter" pitchFamily="34" charset="-120"/>
              </a:rPr>
              <a:t>Sinh viên · P-02</a:t>
            </a:r>
            <a:endParaRPr lang="en-US" sz="1200" dirty="0"/>
          </a:p>
        </p:txBody>
      </p:sp>
      <p:sp>
        <p:nvSpPr>
          <p:cNvPr id="18" name="Text 16"/>
          <p:cNvSpPr/>
          <p:nvPr/>
        </p:nvSpPr>
        <p:spPr>
          <a:xfrm>
            <a:off x="6248400" y="2548891"/>
            <a:ext cx="257695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Tab Hôm nay</a:t>
            </a:r>
            <a:endParaRPr lang="en-US" sz="1200" dirty="0"/>
          </a:p>
        </p:txBody>
      </p:sp>
      <p:sp>
        <p:nvSpPr>
          <p:cNvPr id="19" name="Text 17"/>
          <p:cNvSpPr/>
          <p:nvPr/>
        </p:nvSpPr>
        <p:spPr>
          <a:xfrm>
            <a:off x="6251575" y="282892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SC-09 Hôm nay</a:t>
            </a:r>
            <a:endParaRPr lang="en-US" sz="1200" dirty="0"/>
          </a:p>
        </p:txBody>
      </p:sp>
      <p:sp>
        <p:nvSpPr>
          <p:cNvPr id="20" name="Text 18"/>
          <p:cNvSpPr/>
          <p:nvPr/>
        </p:nvSpPr>
        <p:spPr>
          <a:xfrm>
            <a:off x="6251575" y="322770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SC-10 Quét mã</a:t>
            </a:r>
            <a:endParaRPr lang="en-US" sz="1200" dirty="0"/>
          </a:p>
        </p:txBody>
      </p:sp>
      <p:sp>
        <p:nvSpPr>
          <p:cNvPr id="21" name="Text 19"/>
          <p:cNvSpPr/>
          <p:nvPr/>
        </p:nvSpPr>
        <p:spPr>
          <a:xfrm>
            <a:off x="6251575" y="3626486"/>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SC-11 Kết quả quét</a:t>
            </a:r>
            <a:endParaRPr lang="en-US" sz="1200" dirty="0"/>
          </a:p>
        </p:txBody>
      </p:sp>
      <p:sp>
        <p:nvSpPr>
          <p:cNvPr id="22" name="Text 20"/>
          <p:cNvSpPr/>
          <p:nvPr/>
        </p:nvSpPr>
        <p:spPr>
          <a:xfrm>
            <a:off x="6251575" y="4025266"/>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SC-12 Chi tiết buổi học</a:t>
            </a:r>
            <a:endParaRPr lang="en-US" sz="1200" dirty="0"/>
          </a:p>
        </p:txBody>
      </p:sp>
      <p:sp>
        <p:nvSpPr>
          <p:cNvPr id="23" name="Text 21"/>
          <p:cNvSpPr/>
          <p:nvPr/>
        </p:nvSpPr>
        <p:spPr>
          <a:xfrm>
            <a:off x="6251575" y="442404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SC-13 Gửi báo sai</a:t>
            </a:r>
            <a:endParaRPr lang="en-US" sz="1200" dirty="0"/>
          </a:p>
        </p:txBody>
      </p:sp>
      <p:sp>
        <p:nvSpPr>
          <p:cNvPr id="24" name="Text 22"/>
          <p:cNvSpPr/>
          <p:nvPr/>
        </p:nvSpPr>
        <p:spPr>
          <a:xfrm>
            <a:off x="6251575" y="482282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SC-15 Hướng dẫn đơn</a:t>
            </a:r>
            <a:endParaRPr lang="en-US" sz="1200" dirty="0"/>
          </a:p>
        </p:txBody>
      </p:sp>
      <p:sp>
        <p:nvSpPr>
          <p:cNvPr id="25" name="Text 23"/>
          <p:cNvSpPr/>
          <p:nvPr/>
        </p:nvSpPr>
        <p:spPr>
          <a:xfrm>
            <a:off x="8877300" y="2548891"/>
            <a:ext cx="257695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Tab Báo sai</a:t>
            </a:r>
            <a:endParaRPr lang="en-US" sz="1200" dirty="0"/>
          </a:p>
        </p:txBody>
      </p:sp>
      <p:sp>
        <p:nvSpPr>
          <p:cNvPr id="26" name="Text 24"/>
          <p:cNvSpPr/>
          <p:nvPr/>
        </p:nvSpPr>
        <p:spPr>
          <a:xfrm>
            <a:off x="8880475" y="2828925"/>
            <a:ext cx="2495550" cy="328930"/>
          </a:xfrm>
          <a:prstGeom prst="roundRect">
            <a:avLst>
              <a:gd name="adj" fmla="val 18340"/>
            </a:avLst>
          </a:prstGeom>
          <a:solidFill>
            <a:srgbClr val="FCFCFE"/>
          </a:solidFill>
          <a:ln w="19050">
            <a:solidFill>
              <a:srgbClr val="C9CCDB"/>
            </a:solidFill>
            <a:prstDash val="solid"/>
          </a:ln>
        </p:spPr>
        <p:txBody>
          <a:bodyPr wrap="square" lIns="73136" tIns="47736" rIns="3718" bIns="22336"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SC-14 Báo sai của tôi</a:t>
            </a:r>
            <a:endParaRPr lang="en-US" sz="1200" dirty="0"/>
          </a:p>
        </p:txBody>
      </p:sp>
      <p:sp>
        <p:nvSpPr>
          <p:cNvPr id="27" name="Text 25"/>
          <p:cNvSpPr/>
          <p:nvPr/>
        </p:nvSpPr>
        <p:spPr>
          <a:xfrm>
            <a:off x="812800" y="6238241"/>
            <a:ext cx="56665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3">
                  <a:extLst>
                    <a:ext uri="{A12FA001-AC4F-418D-AE19-62706E023703}">
                      <ahyp:hlinkClr xmlns:ahyp="http://schemas.microsoft.com/office/drawing/2018/hyperlinkcolor" val="tx"/>
                    </a:ext>
                  </a:extLst>
                </a:hlinkClick>
              </a:rPr>
              <a:t>ux/user-flow.md mục 1, 2</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4">
                  <a:extLst>
                    <a:ext uri="{A12FA001-AC4F-418D-AE19-62706E023703}">
                      <ahyp:hlinkClr xmlns:ahyp="http://schemas.microsoft.com/office/drawing/2018/hyperlinkcolor" val="tx"/>
                    </a:ext>
                  </a:extLst>
                </a:hlinkClick>
              </a:rPr>
              <a:t>Figma trang 01 User Flow</a:t>
            </a:r>
            <a:endParaRPr lang="en-US" sz="1200" dirty="0"/>
          </a:p>
        </p:txBody>
      </p:sp>
      <p:sp>
        <p:nvSpPr>
          <p:cNvPr id="28" name="Text 26"/>
          <p:cNvSpPr/>
          <p:nvPr/>
        </p:nvSpPr>
        <p:spPr>
          <a:xfrm>
            <a:off x="10911523" y="6238241"/>
            <a:ext cx="46767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Cách giải · Ba user flow</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Ba flow, flow nào cũng có đường hồi phục</a:t>
            </a:r>
            <a:endParaRPr lang="en-US" sz="2600" dirty="0"/>
          </a:p>
        </p:txBody>
      </p:sp>
      <p:sp>
        <p:nvSpPr>
          <p:cNvPr id="4" name="Text 2"/>
          <p:cNvSpPr/>
          <p:nvPr/>
        </p:nvSpPr>
        <p:spPr>
          <a:xfrm>
            <a:off x="812800" y="1609091"/>
            <a:ext cx="15240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254BA"/>
                </a:solidFill>
                <a:latin typeface="Be Vietnam Pro" pitchFamily="34" charset="0"/>
                <a:ea typeface="Be Vietnam Pro" pitchFamily="34" charset="-122"/>
                <a:cs typeface="Be Vietnam Pro" pitchFamily="34" charset="-120"/>
              </a:rPr>
              <a:t>FL-1</a:t>
            </a:r>
            <a:endParaRPr lang="en-US" sz="1600" dirty="0"/>
          </a:p>
        </p:txBody>
      </p:sp>
      <p:sp>
        <p:nvSpPr>
          <p:cNvPr id="5" name="Text 3"/>
          <p:cNvSpPr/>
          <p:nvPr/>
        </p:nvSpPr>
        <p:spPr>
          <a:xfrm>
            <a:off x="812800" y="1906270"/>
            <a:ext cx="15240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Giảng viên điểm danh</a:t>
            </a:r>
            <a:endParaRPr lang="en-US" sz="1200" dirty="0"/>
          </a:p>
        </p:txBody>
      </p:sp>
      <p:sp>
        <p:nvSpPr>
          <p:cNvPr id="6" name="Text 4"/>
          <p:cNvSpPr/>
          <p:nvPr/>
        </p:nvSpPr>
        <p:spPr>
          <a:xfrm>
            <a:off x="2441575" y="166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Mở QR</a:t>
            </a:r>
            <a:endParaRPr lang="en-US" sz="1200" dirty="0"/>
          </a:p>
        </p:txBody>
      </p:sp>
      <p:pic>
        <p:nvPicPr>
          <p:cNvPr id="7" name="Image 0" descr="arrow-right">    </p:cNvPr>
          <p:cNvPicPr>
            <a:picLocks noChangeAspect="1"/>
          </p:cNvPicPr>
          <p:nvPr/>
        </p:nvPicPr>
        <p:blipFill>
          <a:blip r:embed="rId1"/>
          <a:srcRect l="0" r="0" t="0" b="0"/>
          <a:stretch/>
        </p:blipFill>
        <p:spPr>
          <a:xfrm>
            <a:off x="3683000" y="1911350"/>
            <a:ext cx="177800" cy="88900"/>
          </a:xfrm>
          <a:prstGeom prst="rect">
            <a:avLst/>
          </a:prstGeom>
        </p:spPr>
      </p:pic>
      <p:sp>
        <p:nvSpPr>
          <p:cNvPr id="8" name="Text 5"/>
          <p:cNvSpPr/>
          <p:nvPr/>
        </p:nvSpPr>
        <p:spPr>
          <a:xfrm>
            <a:off x="3940175" y="166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Cả lớp quét</a:t>
            </a:r>
            <a:endParaRPr lang="en-US" sz="1200" dirty="0"/>
          </a:p>
        </p:txBody>
      </p:sp>
      <p:pic>
        <p:nvPicPr>
          <p:cNvPr id="9" name="Image 1" descr="arrow-right">    </p:cNvPr>
          <p:cNvPicPr>
            <a:picLocks noChangeAspect="1"/>
          </p:cNvPicPr>
          <p:nvPr/>
        </p:nvPicPr>
        <p:blipFill>
          <a:blip r:embed="rId2"/>
          <a:srcRect l="0" r="0" t="0" b="0"/>
          <a:stretch/>
        </p:blipFill>
        <p:spPr>
          <a:xfrm>
            <a:off x="5181600" y="1911350"/>
            <a:ext cx="177800" cy="88900"/>
          </a:xfrm>
          <a:prstGeom prst="rect">
            <a:avLst/>
          </a:prstGeom>
        </p:spPr>
      </p:pic>
      <p:sp>
        <p:nvSpPr>
          <p:cNvPr id="10" name="Text 6"/>
          <p:cNvSpPr/>
          <p:nvPr/>
        </p:nvSpPr>
        <p:spPr>
          <a:xfrm>
            <a:off x="5438775" y="166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Đóng QR</a:t>
            </a:r>
            <a:endParaRPr lang="en-US" sz="1200" dirty="0"/>
          </a:p>
        </p:txBody>
      </p:sp>
      <p:pic>
        <p:nvPicPr>
          <p:cNvPr id="11" name="Image 2" descr="arrow-right">    </p:cNvPr>
          <p:cNvPicPr>
            <a:picLocks noChangeAspect="1"/>
          </p:cNvPicPr>
          <p:nvPr/>
        </p:nvPicPr>
        <p:blipFill>
          <a:blip r:embed="rId3"/>
          <a:srcRect l="0" r="0" t="0" b="0"/>
          <a:stretch/>
        </p:blipFill>
        <p:spPr>
          <a:xfrm>
            <a:off x="6680200" y="1911350"/>
            <a:ext cx="177800" cy="88900"/>
          </a:xfrm>
          <a:prstGeom prst="rect">
            <a:avLst/>
          </a:prstGeom>
        </p:spPr>
      </p:pic>
      <p:sp>
        <p:nvSpPr>
          <p:cNvPr id="12" name="Text 7"/>
          <p:cNvSpPr/>
          <p:nvPr/>
        </p:nvSpPr>
        <p:spPr>
          <a:xfrm>
            <a:off x="6940550" y="1670050"/>
            <a:ext cx="1155700" cy="571500"/>
          </a:xfrm>
          <a:prstGeom prst="roundRect">
            <a:avLst>
              <a:gd name="adj" fmla="val 12222"/>
            </a:avLst>
          </a:prstGeom>
          <a:solidFill>
            <a:srgbClr val="FFF4D2"/>
          </a:solidFill>
          <a:ln w="19050">
            <a:solidFill>
              <a:srgbClr val="855A00"/>
            </a:solidFill>
            <a:prstDash val="solid"/>
          </a:ln>
        </p:spPr>
        <p:txBody>
          <a:bodyPr wrap="square" lIns="34151" tIns="0" rIns="34152"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Đối chiếu sĩ số</a:t>
            </a:r>
            <a:endParaRPr lang="en-US" sz="1200" dirty="0"/>
          </a:p>
        </p:txBody>
      </p:sp>
      <p:pic>
        <p:nvPicPr>
          <p:cNvPr id="13" name="Image 3" descr="arrow-right">    </p:cNvPr>
          <p:cNvPicPr>
            <a:picLocks noChangeAspect="1"/>
          </p:cNvPicPr>
          <p:nvPr/>
        </p:nvPicPr>
        <p:blipFill>
          <a:blip r:embed="rId4"/>
          <a:srcRect l="0" r="0" t="0" b="0"/>
          <a:stretch/>
        </p:blipFill>
        <p:spPr>
          <a:xfrm>
            <a:off x="8178800" y="1911350"/>
            <a:ext cx="177800" cy="88900"/>
          </a:xfrm>
          <a:prstGeom prst="rect">
            <a:avLst/>
          </a:prstGeom>
        </p:spPr>
      </p:pic>
      <p:sp>
        <p:nvSpPr>
          <p:cNvPr id="14" name="Text 8"/>
          <p:cNvSpPr/>
          <p:nvPr/>
        </p:nvSpPr>
        <p:spPr>
          <a:xfrm>
            <a:off x="8435975" y="166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6"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Kiểm tra 3 người</a:t>
            </a:r>
            <a:endParaRPr lang="en-US" sz="1200" dirty="0"/>
          </a:p>
        </p:txBody>
      </p:sp>
      <p:pic>
        <p:nvPicPr>
          <p:cNvPr id="15" name="Image 4" descr="arrow-right">    </p:cNvPr>
          <p:cNvPicPr>
            <a:picLocks noChangeAspect="1"/>
          </p:cNvPicPr>
          <p:nvPr/>
        </p:nvPicPr>
        <p:blipFill>
          <a:blip r:embed="rId5"/>
          <a:srcRect l="0" r="0" t="0" b="0"/>
          <a:stretch/>
        </p:blipFill>
        <p:spPr>
          <a:xfrm>
            <a:off x="9677400" y="1911350"/>
            <a:ext cx="177800" cy="88900"/>
          </a:xfrm>
          <a:prstGeom prst="rect">
            <a:avLst/>
          </a:prstGeom>
        </p:spPr>
      </p:pic>
      <p:sp>
        <p:nvSpPr>
          <p:cNvPr id="16" name="Text 9"/>
          <p:cNvSpPr/>
          <p:nvPr/>
        </p:nvSpPr>
        <p:spPr>
          <a:xfrm>
            <a:off x="9937750" y="1670050"/>
            <a:ext cx="1155700" cy="571500"/>
          </a:xfrm>
          <a:prstGeom prst="roundRect">
            <a:avLst>
              <a:gd name="adj" fmla="val 12222"/>
            </a:avLst>
          </a:prstGeom>
          <a:solidFill>
            <a:srgbClr val="E3F0EA"/>
          </a:solidFill>
          <a:ln w="19050">
            <a:solidFill>
              <a:srgbClr val="0D6E45"/>
            </a:solidFill>
            <a:prstDash val="solid"/>
          </a:ln>
        </p:spPr>
        <p:txBody>
          <a:bodyPr wrap="square" lIns="34151" tIns="0" rIns="34152" bIns="0" rtlCol="0" anchor="ctr">
            <a:normAutofit/>
          </a:bodyPr>
          <a:lstStyle/>
          <a:p>
            <a:pPr algn="ctr" indent="0" marL="0">
              <a:buNone/>
            </a:pPr>
            <a:r>
              <a:rPr lang="en-US" sz="1200" dirty="0">
                <a:solidFill>
                  <a:srgbClr val="0D6E45"/>
                </a:solidFill>
                <a:latin typeface="Inter SemiBold" pitchFamily="34" charset="0"/>
                <a:ea typeface="Inter SemiBold" pitchFamily="34" charset="-122"/>
                <a:cs typeface="Inter SemiBold" pitchFamily="34" charset="-120"/>
              </a:rPr>
              <a:t>Xác nhận</a:t>
            </a:r>
            <a:endParaRPr lang="en-US" sz="1200" dirty="0"/>
          </a:p>
        </p:txBody>
      </p:sp>
      <p:sp>
        <p:nvSpPr>
          <p:cNvPr id="17" name="Shape 10"/>
          <p:cNvSpPr/>
          <p:nvPr/>
        </p:nvSpPr>
        <p:spPr>
          <a:xfrm>
            <a:off x="2444750" y="2385061"/>
            <a:ext cx="2578021" cy="297180"/>
          </a:xfrm>
          <a:prstGeom prst="roundRect">
            <a:avLst>
              <a:gd name="adj" fmla="val 23504"/>
            </a:avLst>
          </a:prstGeom>
          <a:noFill/>
          <a:ln w="19050">
            <a:solidFill>
              <a:srgbClr val="B42318"/>
            </a:solidFill>
            <a:prstDash val="dash"/>
          </a:ln>
        </p:spPr>
      </p:sp>
      <p:pic>
        <p:nvPicPr>
          <p:cNvPr id="18" name="Image 5" descr="Warning">    </p:cNvPr>
          <p:cNvPicPr>
            <a:picLocks noChangeAspect="1"/>
          </p:cNvPicPr>
          <p:nvPr/>
        </p:nvPicPr>
        <p:blipFill>
          <a:blip r:embed="rId6"/>
          <a:srcRect l="0" r="0" t="0" b="0"/>
          <a:stretch/>
        </p:blipFill>
        <p:spPr>
          <a:xfrm>
            <a:off x="2550160" y="2444750"/>
            <a:ext cx="177800" cy="177800"/>
          </a:xfrm>
          <a:prstGeom prst="rect">
            <a:avLst/>
          </a:prstGeom>
        </p:spPr>
      </p:pic>
      <p:sp>
        <p:nvSpPr>
          <p:cNvPr id="19" name="Text 11"/>
          <p:cNvSpPr/>
          <p:nvPr/>
        </p:nvSpPr>
        <p:spPr>
          <a:xfrm>
            <a:off x="2791460" y="2426970"/>
            <a:ext cx="22249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Số quét lệch → xem từng lượt</a:t>
            </a:r>
            <a:endParaRPr lang="en-US" sz="1200" dirty="0"/>
          </a:p>
        </p:txBody>
      </p:sp>
      <p:sp>
        <p:nvSpPr>
          <p:cNvPr id="20" name="Shape 12"/>
          <p:cNvSpPr/>
          <p:nvPr/>
        </p:nvSpPr>
        <p:spPr>
          <a:xfrm>
            <a:off x="5137071" y="2385061"/>
            <a:ext cx="2489041" cy="297180"/>
          </a:xfrm>
          <a:prstGeom prst="roundRect">
            <a:avLst>
              <a:gd name="adj" fmla="val 23504"/>
            </a:avLst>
          </a:prstGeom>
          <a:noFill/>
          <a:ln w="19050">
            <a:solidFill>
              <a:srgbClr val="B42318"/>
            </a:solidFill>
            <a:prstDash val="dash"/>
          </a:ln>
        </p:spPr>
      </p:sp>
      <p:pic>
        <p:nvPicPr>
          <p:cNvPr id="21" name="Image 6" descr="Warning">    </p:cNvPr>
          <p:cNvPicPr>
            <a:picLocks noChangeAspect="1"/>
          </p:cNvPicPr>
          <p:nvPr/>
        </p:nvPicPr>
        <p:blipFill>
          <a:blip r:embed="rId7"/>
          <a:srcRect l="0" r="0" t="0" b="0"/>
          <a:stretch/>
        </p:blipFill>
        <p:spPr>
          <a:xfrm>
            <a:off x="5242481" y="2444750"/>
            <a:ext cx="177800" cy="177800"/>
          </a:xfrm>
          <a:prstGeom prst="rect">
            <a:avLst/>
          </a:prstGeom>
        </p:spPr>
      </p:pic>
      <p:sp>
        <p:nvSpPr>
          <p:cNvPr id="22" name="Text 13"/>
          <p:cNvSpPr/>
          <p:nvPr/>
        </p:nvSpPr>
        <p:spPr>
          <a:xfrm>
            <a:off x="5483781" y="2426970"/>
            <a:ext cx="21359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Chưa lên FAP → Thử điền lại</a:t>
            </a:r>
            <a:endParaRPr lang="en-US" sz="1200" dirty="0"/>
          </a:p>
        </p:txBody>
      </p:sp>
      <p:sp>
        <p:nvSpPr>
          <p:cNvPr id="23" name="Text 14"/>
          <p:cNvSpPr/>
          <p:nvPr/>
        </p:nvSpPr>
        <p:spPr>
          <a:xfrm>
            <a:off x="812800" y="2879091"/>
            <a:ext cx="15240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254BA"/>
                </a:solidFill>
                <a:latin typeface="Be Vietnam Pro" pitchFamily="34" charset="0"/>
                <a:ea typeface="Be Vietnam Pro" pitchFamily="34" charset="-122"/>
                <a:cs typeface="Be Vietnam Pro" pitchFamily="34" charset="-120"/>
              </a:rPr>
              <a:t>FL-2</a:t>
            </a:r>
            <a:endParaRPr lang="en-US" sz="1600" dirty="0"/>
          </a:p>
        </p:txBody>
      </p:sp>
      <p:sp>
        <p:nvSpPr>
          <p:cNvPr id="24" name="Text 15"/>
          <p:cNvSpPr/>
          <p:nvPr/>
        </p:nvSpPr>
        <p:spPr>
          <a:xfrm>
            <a:off x="812800" y="3176270"/>
            <a:ext cx="15240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Sinh viên quét và báo sai</a:t>
            </a:r>
            <a:endParaRPr lang="en-US" sz="1200" dirty="0"/>
          </a:p>
        </p:txBody>
      </p:sp>
      <p:sp>
        <p:nvSpPr>
          <p:cNvPr id="25" name="Text 16"/>
          <p:cNvSpPr/>
          <p:nvPr/>
        </p:nvSpPr>
        <p:spPr>
          <a:xfrm>
            <a:off x="2441575" y="293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Quét mã</a:t>
            </a:r>
            <a:endParaRPr lang="en-US" sz="1200" dirty="0"/>
          </a:p>
        </p:txBody>
      </p:sp>
      <p:pic>
        <p:nvPicPr>
          <p:cNvPr id="26" name="Image 7" descr="arrow-right">    </p:cNvPr>
          <p:cNvPicPr>
            <a:picLocks noChangeAspect="1"/>
          </p:cNvPicPr>
          <p:nvPr/>
        </p:nvPicPr>
        <p:blipFill>
          <a:blip r:embed="rId8"/>
          <a:srcRect l="0" r="0" t="0" b="0"/>
          <a:stretch/>
        </p:blipFill>
        <p:spPr>
          <a:xfrm>
            <a:off x="3683000" y="3181350"/>
            <a:ext cx="177800" cy="88900"/>
          </a:xfrm>
          <a:prstGeom prst="rect">
            <a:avLst/>
          </a:prstGeom>
        </p:spPr>
      </p:pic>
      <p:sp>
        <p:nvSpPr>
          <p:cNvPr id="27" name="Text 17"/>
          <p:cNvSpPr/>
          <p:nvPr/>
        </p:nvSpPr>
        <p:spPr>
          <a:xfrm>
            <a:off x="3940175" y="293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Xem kết quả</a:t>
            </a:r>
            <a:endParaRPr lang="en-US" sz="1200" dirty="0"/>
          </a:p>
        </p:txBody>
      </p:sp>
      <p:pic>
        <p:nvPicPr>
          <p:cNvPr id="28" name="Image 8" descr="arrow-right">    </p:cNvPr>
          <p:cNvPicPr>
            <a:picLocks noChangeAspect="1"/>
          </p:cNvPicPr>
          <p:nvPr/>
        </p:nvPicPr>
        <p:blipFill>
          <a:blip r:embed="rId9"/>
          <a:srcRect l="0" r="0" t="0" b="0"/>
          <a:stretch/>
        </p:blipFill>
        <p:spPr>
          <a:xfrm>
            <a:off x="5181600" y="3181350"/>
            <a:ext cx="177800" cy="88900"/>
          </a:xfrm>
          <a:prstGeom prst="rect">
            <a:avLst/>
          </a:prstGeom>
        </p:spPr>
      </p:pic>
      <p:sp>
        <p:nvSpPr>
          <p:cNvPr id="29" name="Text 18"/>
          <p:cNvSpPr/>
          <p:nvPr/>
        </p:nvSpPr>
        <p:spPr>
          <a:xfrm>
            <a:off x="5438775" y="293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Bị ghi Vắng sai</a:t>
            </a:r>
            <a:endParaRPr lang="en-US" sz="1200" dirty="0"/>
          </a:p>
        </p:txBody>
      </p:sp>
      <p:pic>
        <p:nvPicPr>
          <p:cNvPr id="30" name="Image 9" descr="arrow-right">    </p:cNvPr>
          <p:cNvPicPr>
            <a:picLocks noChangeAspect="1"/>
          </p:cNvPicPr>
          <p:nvPr/>
        </p:nvPicPr>
        <p:blipFill>
          <a:blip r:embed="rId10"/>
          <a:srcRect l="0" r="0" t="0" b="0"/>
          <a:stretch/>
        </p:blipFill>
        <p:spPr>
          <a:xfrm>
            <a:off x="6680200" y="3181350"/>
            <a:ext cx="177800" cy="88900"/>
          </a:xfrm>
          <a:prstGeom prst="rect">
            <a:avLst/>
          </a:prstGeom>
        </p:spPr>
      </p:pic>
      <p:sp>
        <p:nvSpPr>
          <p:cNvPr id="31" name="Text 19"/>
          <p:cNvSpPr/>
          <p:nvPr/>
        </p:nvSpPr>
        <p:spPr>
          <a:xfrm>
            <a:off x="6937375" y="293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6"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Gửi báo sai</a:t>
            </a:r>
            <a:endParaRPr lang="en-US" sz="1200" dirty="0"/>
          </a:p>
        </p:txBody>
      </p:sp>
      <p:pic>
        <p:nvPicPr>
          <p:cNvPr id="32" name="Image 10" descr="arrow-right">    </p:cNvPr>
          <p:cNvPicPr>
            <a:picLocks noChangeAspect="1"/>
          </p:cNvPicPr>
          <p:nvPr/>
        </p:nvPicPr>
        <p:blipFill>
          <a:blip r:embed="rId11"/>
          <a:srcRect l="0" r="0" t="0" b="0"/>
          <a:stretch/>
        </p:blipFill>
        <p:spPr>
          <a:xfrm>
            <a:off x="8178800" y="3181350"/>
            <a:ext cx="177800" cy="88900"/>
          </a:xfrm>
          <a:prstGeom prst="rect">
            <a:avLst/>
          </a:prstGeom>
        </p:spPr>
      </p:pic>
      <p:sp>
        <p:nvSpPr>
          <p:cNvPr id="33" name="Text 20"/>
          <p:cNvSpPr/>
          <p:nvPr/>
        </p:nvSpPr>
        <p:spPr>
          <a:xfrm>
            <a:off x="8439150" y="2940050"/>
            <a:ext cx="1155700" cy="571500"/>
          </a:xfrm>
          <a:prstGeom prst="roundRect">
            <a:avLst>
              <a:gd name="adj" fmla="val 12222"/>
            </a:avLst>
          </a:prstGeom>
          <a:solidFill>
            <a:srgbClr val="E3F0EA"/>
          </a:solidFill>
          <a:ln w="19050">
            <a:solidFill>
              <a:srgbClr val="0D6E45"/>
            </a:solidFill>
            <a:prstDash val="solid"/>
          </a:ln>
        </p:spPr>
        <p:txBody>
          <a:bodyPr wrap="square" lIns="34151" tIns="0" rIns="34152" bIns="0" rtlCol="0" anchor="ctr">
            <a:normAutofit/>
          </a:bodyPr>
          <a:lstStyle/>
          <a:p>
            <a:pPr algn="ctr" indent="0" marL="0">
              <a:buNone/>
            </a:pPr>
            <a:r>
              <a:rPr lang="en-US" sz="1200" dirty="0">
                <a:solidFill>
                  <a:srgbClr val="0D6E45"/>
                </a:solidFill>
                <a:latin typeface="Inter SemiBold" pitchFamily="34" charset="0"/>
                <a:ea typeface="Inter SemiBold" pitchFamily="34" charset="-122"/>
                <a:cs typeface="Inter SemiBold" pitchFamily="34" charset="-120"/>
              </a:rPr>
              <a:t>Nhận kết quả</a:t>
            </a:r>
            <a:endParaRPr lang="en-US" sz="1200" dirty="0"/>
          </a:p>
        </p:txBody>
      </p:sp>
      <p:sp>
        <p:nvSpPr>
          <p:cNvPr id="34" name="Shape 21"/>
          <p:cNvSpPr/>
          <p:nvPr/>
        </p:nvSpPr>
        <p:spPr>
          <a:xfrm>
            <a:off x="2444750" y="3655061"/>
            <a:ext cx="2041446" cy="297180"/>
          </a:xfrm>
          <a:prstGeom prst="roundRect">
            <a:avLst>
              <a:gd name="adj" fmla="val 23504"/>
            </a:avLst>
          </a:prstGeom>
          <a:noFill/>
          <a:ln w="19050">
            <a:solidFill>
              <a:srgbClr val="B42318"/>
            </a:solidFill>
            <a:prstDash val="dash"/>
          </a:ln>
        </p:spPr>
      </p:sp>
      <p:pic>
        <p:nvPicPr>
          <p:cNvPr id="35" name="Image 11" descr="Warning">    </p:cNvPr>
          <p:cNvPicPr>
            <a:picLocks noChangeAspect="1"/>
          </p:cNvPicPr>
          <p:nvPr/>
        </p:nvPicPr>
        <p:blipFill>
          <a:blip r:embed="rId12"/>
          <a:srcRect l="0" r="0" t="0" b="0"/>
          <a:stretch/>
        </p:blipFill>
        <p:spPr>
          <a:xfrm>
            <a:off x="2550160" y="3714750"/>
            <a:ext cx="177800" cy="177800"/>
          </a:xfrm>
          <a:prstGeom prst="rect">
            <a:avLst/>
          </a:prstGeom>
        </p:spPr>
      </p:pic>
      <p:sp>
        <p:nvSpPr>
          <p:cNvPr id="36" name="Text 22"/>
          <p:cNvSpPr/>
          <p:nvPr/>
        </p:nvSpPr>
        <p:spPr>
          <a:xfrm>
            <a:off x="2791460" y="3696970"/>
            <a:ext cx="1688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Mã hết hạn → Quét lại</a:t>
            </a:r>
            <a:endParaRPr lang="en-US" sz="1200" dirty="0"/>
          </a:p>
        </p:txBody>
      </p:sp>
      <p:sp>
        <p:nvSpPr>
          <p:cNvPr id="37" name="Shape 23"/>
          <p:cNvSpPr/>
          <p:nvPr/>
        </p:nvSpPr>
        <p:spPr>
          <a:xfrm>
            <a:off x="4600496" y="3655061"/>
            <a:ext cx="2363470" cy="297180"/>
          </a:xfrm>
          <a:prstGeom prst="roundRect">
            <a:avLst>
              <a:gd name="adj" fmla="val 23504"/>
            </a:avLst>
          </a:prstGeom>
          <a:noFill/>
          <a:ln w="19050">
            <a:solidFill>
              <a:srgbClr val="B42318"/>
            </a:solidFill>
            <a:prstDash val="dash"/>
          </a:ln>
        </p:spPr>
      </p:sp>
      <p:pic>
        <p:nvPicPr>
          <p:cNvPr id="38" name="Image 12" descr="Warning">    </p:cNvPr>
          <p:cNvPicPr>
            <a:picLocks noChangeAspect="1"/>
          </p:cNvPicPr>
          <p:nvPr/>
        </p:nvPicPr>
        <p:blipFill>
          <a:blip r:embed="rId13"/>
          <a:srcRect l="0" r="0" t="0" b="0"/>
          <a:stretch/>
        </p:blipFill>
        <p:spPr>
          <a:xfrm>
            <a:off x="4705906" y="3714750"/>
            <a:ext cx="177800" cy="177800"/>
          </a:xfrm>
          <a:prstGeom prst="rect">
            <a:avLst/>
          </a:prstGeom>
        </p:spPr>
      </p:pic>
      <p:sp>
        <p:nvSpPr>
          <p:cNvPr id="39" name="Text 24"/>
          <p:cNvSpPr/>
          <p:nvPr/>
        </p:nvSpPr>
        <p:spPr>
          <a:xfrm>
            <a:off x="4947206" y="3696970"/>
            <a:ext cx="20104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Quá 23:59 → đơn trên FAP</a:t>
            </a:r>
            <a:endParaRPr lang="en-US" sz="1200" dirty="0"/>
          </a:p>
        </p:txBody>
      </p:sp>
      <p:sp>
        <p:nvSpPr>
          <p:cNvPr id="40" name="Text 25"/>
          <p:cNvSpPr/>
          <p:nvPr/>
        </p:nvSpPr>
        <p:spPr>
          <a:xfrm>
            <a:off x="812800" y="4149091"/>
            <a:ext cx="15240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254BA"/>
                </a:solidFill>
                <a:latin typeface="Be Vietnam Pro" pitchFamily="34" charset="0"/>
                <a:ea typeface="Be Vietnam Pro" pitchFamily="34" charset="-122"/>
                <a:cs typeface="Be Vietnam Pro" pitchFamily="34" charset="-120"/>
              </a:rPr>
              <a:t>FL-3</a:t>
            </a:r>
            <a:endParaRPr lang="en-US" sz="1600" dirty="0"/>
          </a:p>
        </p:txBody>
      </p:sp>
      <p:sp>
        <p:nvSpPr>
          <p:cNvPr id="41" name="Text 26"/>
          <p:cNvSpPr/>
          <p:nvPr/>
        </p:nvSpPr>
        <p:spPr>
          <a:xfrm>
            <a:off x="812800" y="4446270"/>
            <a:ext cx="15240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Giảng viên xử lý báo sai</a:t>
            </a:r>
            <a:endParaRPr lang="en-US" sz="1200" dirty="0"/>
          </a:p>
        </p:txBody>
      </p:sp>
      <p:sp>
        <p:nvSpPr>
          <p:cNvPr id="42" name="Text 27"/>
          <p:cNvSpPr/>
          <p:nvPr/>
        </p:nvSpPr>
        <p:spPr>
          <a:xfrm>
            <a:off x="2441575" y="420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Mở tab Báo sai</a:t>
            </a:r>
            <a:endParaRPr lang="en-US" sz="1200" dirty="0"/>
          </a:p>
        </p:txBody>
      </p:sp>
      <p:pic>
        <p:nvPicPr>
          <p:cNvPr id="43" name="Image 13" descr="arrow-right">    </p:cNvPr>
          <p:cNvPicPr>
            <a:picLocks noChangeAspect="1"/>
          </p:cNvPicPr>
          <p:nvPr/>
        </p:nvPicPr>
        <p:blipFill>
          <a:blip r:embed="rId14"/>
          <a:srcRect l="0" r="0" t="0" b="0"/>
          <a:stretch/>
        </p:blipFill>
        <p:spPr>
          <a:xfrm>
            <a:off x="3683000" y="4451350"/>
            <a:ext cx="177800" cy="88900"/>
          </a:xfrm>
          <a:prstGeom prst="rect">
            <a:avLst/>
          </a:prstGeom>
        </p:spPr>
      </p:pic>
      <p:sp>
        <p:nvSpPr>
          <p:cNvPr id="44" name="Text 28"/>
          <p:cNvSpPr/>
          <p:nvPr/>
        </p:nvSpPr>
        <p:spPr>
          <a:xfrm>
            <a:off x="3940175" y="4206875"/>
            <a:ext cx="1162050" cy="577850"/>
          </a:xfrm>
          <a:prstGeom prst="roundRect">
            <a:avLst>
              <a:gd name="adj" fmla="val 12637"/>
            </a:avLst>
          </a:prstGeom>
          <a:solidFill>
            <a:srgbClr val="FCFCFE"/>
          </a:solidFill>
          <a:ln w="19050">
            <a:solidFill>
              <a:srgbClr val="C9CCDB"/>
            </a:solidFill>
            <a:prstDash val="solid"/>
          </a:ln>
        </p:spPr>
        <p:txBody>
          <a:bodyPr wrap="square" lIns="31317" tIns="0" rIns="31317" bIns="0" rtlCol="0" anchor="ctr">
            <a:normAutofit/>
          </a:bodyPr>
          <a:lstStyle/>
          <a:p>
            <a:pPr algn="ctr" indent="0" marL="0">
              <a:buNone/>
            </a:pPr>
            <a:r>
              <a:rPr lang="en-US" sz="1200" dirty="0">
                <a:solidFill>
                  <a:srgbClr val="1B2140"/>
                </a:solidFill>
                <a:latin typeface="Inter SemiBold" pitchFamily="34" charset="0"/>
                <a:ea typeface="Inter SemiBold" pitchFamily="34" charset="-122"/>
                <a:cs typeface="Inter SemiBold" pitchFamily="34" charset="-120"/>
              </a:rPr>
              <a:t>Xem bằng chứng</a:t>
            </a:r>
            <a:endParaRPr lang="en-US" sz="1200" dirty="0"/>
          </a:p>
        </p:txBody>
      </p:sp>
      <p:pic>
        <p:nvPicPr>
          <p:cNvPr id="45" name="Image 14" descr="arrow-right">    </p:cNvPr>
          <p:cNvPicPr>
            <a:picLocks noChangeAspect="1"/>
          </p:cNvPicPr>
          <p:nvPr/>
        </p:nvPicPr>
        <p:blipFill>
          <a:blip r:embed="rId15"/>
          <a:srcRect l="0" r="0" t="0" b="0"/>
          <a:stretch/>
        </p:blipFill>
        <p:spPr>
          <a:xfrm>
            <a:off x="5181600" y="4451350"/>
            <a:ext cx="177800" cy="88900"/>
          </a:xfrm>
          <a:prstGeom prst="rect">
            <a:avLst/>
          </a:prstGeom>
        </p:spPr>
      </p:pic>
      <p:sp>
        <p:nvSpPr>
          <p:cNvPr id="46" name="Text 29"/>
          <p:cNvSpPr/>
          <p:nvPr/>
        </p:nvSpPr>
        <p:spPr>
          <a:xfrm>
            <a:off x="5441950" y="4210050"/>
            <a:ext cx="1155700" cy="571500"/>
          </a:xfrm>
          <a:prstGeom prst="roundRect">
            <a:avLst>
              <a:gd name="adj" fmla="val 12222"/>
            </a:avLst>
          </a:prstGeom>
          <a:solidFill>
            <a:srgbClr val="E3F0EA"/>
          </a:solidFill>
          <a:ln w="19050">
            <a:solidFill>
              <a:srgbClr val="0D6E45"/>
            </a:solidFill>
            <a:prstDash val="solid"/>
          </a:ln>
        </p:spPr>
        <p:txBody>
          <a:bodyPr wrap="square" lIns="34152" tIns="0" rIns="34151" bIns="0" rtlCol="0" anchor="ctr">
            <a:normAutofit/>
          </a:bodyPr>
          <a:lstStyle/>
          <a:p>
            <a:pPr algn="ctr" indent="0" marL="0">
              <a:buNone/>
            </a:pPr>
            <a:r>
              <a:rPr lang="en-US" sz="1200" dirty="0">
                <a:solidFill>
                  <a:srgbClr val="0D6E45"/>
                </a:solidFill>
                <a:latin typeface="Inter SemiBold" pitchFamily="34" charset="0"/>
                <a:ea typeface="Inter SemiBold" pitchFamily="34" charset="-122"/>
                <a:cs typeface="Inter SemiBold" pitchFamily="34" charset="-120"/>
              </a:rPr>
              <a:t>Sửa Có mặt</a:t>
            </a:r>
            <a:endParaRPr lang="en-US" sz="1200" dirty="0"/>
          </a:p>
        </p:txBody>
      </p:sp>
      <p:sp>
        <p:nvSpPr>
          <p:cNvPr id="47" name="Shape 30"/>
          <p:cNvSpPr/>
          <p:nvPr/>
        </p:nvSpPr>
        <p:spPr>
          <a:xfrm>
            <a:off x="2444750" y="4925061"/>
            <a:ext cx="2665571" cy="297180"/>
          </a:xfrm>
          <a:prstGeom prst="roundRect">
            <a:avLst>
              <a:gd name="adj" fmla="val 23504"/>
            </a:avLst>
          </a:prstGeom>
          <a:noFill/>
          <a:ln w="19050">
            <a:solidFill>
              <a:srgbClr val="B42318"/>
            </a:solidFill>
            <a:prstDash val="dash"/>
          </a:ln>
        </p:spPr>
      </p:sp>
      <p:pic>
        <p:nvPicPr>
          <p:cNvPr id="48" name="Image 15" descr="Warning">    </p:cNvPr>
          <p:cNvPicPr>
            <a:picLocks noChangeAspect="1"/>
          </p:cNvPicPr>
          <p:nvPr/>
        </p:nvPicPr>
        <p:blipFill>
          <a:blip r:embed="rId16"/>
          <a:srcRect l="0" r="0" t="0" b="0"/>
          <a:stretch/>
        </p:blipFill>
        <p:spPr>
          <a:xfrm>
            <a:off x="2550160" y="4984750"/>
            <a:ext cx="177800" cy="177800"/>
          </a:xfrm>
          <a:prstGeom prst="rect">
            <a:avLst/>
          </a:prstGeom>
        </p:spPr>
      </p:pic>
      <p:sp>
        <p:nvSpPr>
          <p:cNvPr id="49" name="Text 31"/>
          <p:cNvSpPr/>
          <p:nvPr/>
        </p:nvSpPr>
        <p:spPr>
          <a:xfrm>
            <a:off x="2791460" y="4966970"/>
            <a:ext cx="23125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Từ chối → sinh viên nhận lý do</a:t>
            </a:r>
            <a:endParaRPr lang="en-US" sz="1200" dirty="0"/>
          </a:p>
        </p:txBody>
      </p:sp>
      <p:sp>
        <p:nvSpPr>
          <p:cNvPr id="50" name="Text 32"/>
          <p:cNvSpPr/>
          <p:nvPr/>
        </p:nvSpPr>
        <p:spPr>
          <a:xfrm>
            <a:off x="819150" y="5463539"/>
            <a:ext cx="1548924" cy="246380"/>
          </a:xfrm>
          <a:prstGeom prst="roundRect">
            <a:avLst>
              <a:gd name="adj" fmla="val 18041"/>
            </a:avLst>
          </a:prstGeom>
          <a:solidFill>
            <a:srgbClr val="FFF4D2"/>
          </a:solidFill>
          <a:ln w="19050">
            <a:solidFill>
              <a:srgbClr val="855A00"/>
            </a:solidFill>
            <a:prstDash val="solid"/>
          </a:ln>
        </p:spPr>
        <p:txBody>
          <a:bodyPr wrap="none" lIns="0" tIns="0" rIns="0" bIns="0" rtlCol="0" anchor="ctr">
            <a:normAutofit/>
          </a:bodyPr>
          <a:lstStyle/>
          <a:p>
            <a:pPr algn="ctr" indent="0" marL="0">
              <a:buNone/>
            </a:pPr>
            <a:r>
              <a:rPr lang="en-US" sz="1200" dirty="0">
                <a:solidFill>
                  <a:srgbClr val="4A5068"/>
                </a:solidFill>
                <a:latin typeface="Inter SemiBold" pitchFamily="34" charset="0"/>
                <a:ea typeface="Inter SemiBold" pitchFamily="34" charset="-122"/>
                <a:cs typeface="Inter SemiBold" pitchFamily="34" charset="-120"/>
              </a:rPr>
              <a:t>Bước dễ hỏng nhất</a:t>
            </a:r>
            <a:endParaRPr lang="en-US" sz="1200" dirty="0"/>
          </a:p>
        </p:txBody>
      </p:sp>
      <p:sp>
        <p:nvSpPr>
          <p:cNvPr id="51" name="Text 33"/>
          <p:cNvSpPr/>
          <p:nvPr/>
        </p:nvSpPr>
        <p:spPr>
          <a:xfrm>
            <a:off x="2634774" y="5463539"/>
            <a:ext cx="1776333" cy="246380"/>
          </a:xfrm>
          <a:prstGeom prst="roundRect">
            <a:avLst>
              <a:gd name="adj" fmla="val 18041"/>
            </a:avLst>
          </a:prstGeom>
          <a:noFill/>
          <a:ln w="19050">
            <a:solidFill>
              <a:srgbClr val="B42318"/>
            </a:solidFill>
            <a:prstDash val="dash"/>
          </a:ln>
        </p:spPr>
        <p:txBody>
          <a:bodyPr wrap="none" lIns="0" tIns="0" rIns="0" bIns="0" rtlCol="0" anchor="ctr">
            <a:normAutofit/>
          </a:bodyPr>
          <a:lstStyle/>
          <a:p>
            <a:pPr algn="ctr" indent="0" marL="0">
              <a:buNone/>
            </a:pPr>
            <a:r>
              <a:rPr lang="en-US" sz="1200" dirty="0">
                <a:solidFill>
                  <a:srgbClr val="4A5068"/>
                </a:solidFill>
                <a:latin typeface="Inter SemiBold" pitchFamily="34" charset="0"/>
                <a:ea typeface="Inter SemiBold" pitchFamily="34" charset="-122"/>
                <a:cs typeface="Inter SemiBold" pitchFamily="34" charset="-120"/>
              </a:rPr>
              <a:t>Nhánh lỗi có đường ra</a:t>
            </a:r>
            <a:endParaRPr lang="en-US" sz="1200" dirty="0"/>
          </a:p>
        </p:txBody>
      </p:sp>
      <p:sp>
        <p:nvSpPr>
          <p:cNvPr id="52" name="Text 34"/>
          <p:cNvSpPr/>
          <p:nvPr/>
        </p:nvSpPr>
        <p:spPr>
          <a:xfrm>
            <a:off x="812800" y="6238239"/>
            <a:ext cx="69796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19">
                  <a:extLst>
                    <a:ext uri="{A12FA001-AC4F-418D-AE19-62706E023703}">
                      <ahyp:hlinkClr xmlns:ahyp="http://schemas.microsoft.com/office/drawing/2018/hyperlinkcolor" val="tx"/>
                    </a:ext>
                  </a:extLst>
                </a:hlinkClick>
              </a:rPr>
              <a:t>ux/user-flow.md mục 3</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20">
                  <a:extLst>
                    <a:ext uri="{A12FA001-AC4F-418D-AE19-62706E023703}">
                      <ahyp:hlinkClr xmlns:ahyp="http://schemas.microsoft.com/office/drawing/2018/hyperlinkcolor" val="tx"/>
                    </a:ext>
                  </a:extLst>
                </a:hlinkClick>
              </a:rPr>
              <a:t>Figma trang 01</a:t>
            </a:r>
            <a:r>
              <a:rPr lang="en-US" sz="1200" dirty="0">
                <a:solidFill>
                  <a:srgbClr val="6B7085"/>
                </a:solidFill>
                <a:latin typeface="Inter Medium" pitchFamily="34" charset="0"/>
                <a:ea typeface="Inter Medium" pitchFamily="34" charset="-122"/>
                <a:cs typeface="Inter Medium" pitchFamily="34" charset="-120"/>
              </a:rPr>
              <a:t> (sơ đồ có link tới từng màn)</a:t>
            </a:r>
            <a:endParaRPr lang="en-US" sz="1200" dirty="0"/>
          </a:p>
        </p:txBody>
      </p:sp>
      <p:sp>
        <p:nvSpPr>
          <p:cNvPr id="53" name="Text 35"/>
          <p:cNvSpPr/>
          <p:nvPr/>
        </p:nvSpPr>
        <p:spPr>
          <a:xfrm>
            <a:off x="10906284" y="6238239"/>
            <a:ext cx="47291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AI tạo UI · Google Stitch</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Stitch dựng nhanh, nhưng sai 3 điều</a:t>
            </a:r>
            <a:endParaRPr lang="en-US" sz="2600" dirty="0"/>
          </a:p>
        </p:txBody>
      </p:sp>
      <p:sp>
        <p:nvSpPr>
          <p:cNvPr id="4" name="Shape 2"/>
          <p:cNvSpPr/>
          <p:nvPr/>
        </p:nvSpPr>
        <p:spPr>
          <a:xfrm>
            <a:off x="815975" y="1637664"/>
            <a:ext cx="7486650" cy="1924050"/>
          </a:xfrm>
          <a:prstGeom prst="roundRect">
            <a:avLst>
              <a:gd name="adj" fmla="val 5116"/>
            </a:avLst>
          </a:prstGeom>
          <a:solidFill>
            <a:srgbClr val="FCFCFE"/>
          </a:solidFill>
          <a:ln w="19050">
            <a:solidFill>
              <a:srgbClr val="C9CCDB"/>
            </a:solidFill>
            <a:prstDash val="solid"/>
          </a:ln>
        </p:spPr>
      </p:sp>
      <p:sp>
        <p:nvSpPr>
          <p:cNvPr id="5" name="Text 3"/>
          <p:cNvSpPr/>
          <p:nvPr/>
        </p:nvSpPr>
        <p:spPr>
          <a:xfrm>
            <a:off x="1046480" y="1842771"/>
            <a:ext cx="72364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Trích nguyên văn prompt P1 · SC-03 (bản đủ: </a:t>
            </a:r>
            <a:r>
              <a:rPr lang="en-US" sz="1200" dirty="0" u="sng">
                <a:solidFill>
                  <a:srgbClr val="4254BA"/>
                </a:solidFill>
                <a:latin typeface="Inter SemiBold" pitchFamily="34" charset="0"/>
                <a:ea typeface="Inter SemiBold" pitchFamily="34" charset="-122"/>
                <a:cs typeface="Inter SemiBold" pitchFamily="34" charset="-120"/>
                <a:hlinkClick r:id="rId4">
                  <a:extLst>
                    <a:ext uri="{A12FA001-AC4F-418D-AE19-62706E023703}">
                      <ahyp:hlinkClr xmlns:ahyp="http://schemas.microsoft.com/office/drawing/2018/hyperlinkcolor" val="tx"/>
                    </a:ext>
                  </a:extLst>
                </a:hlinkClick>
              </a:rPr>
              <a:t>ai/prompts/AI-18</a:t>
            </a:r>
            <a:r>
              <a:rPr lang="en-US" sz="1200" dirty="0">
                <a:solidFill>
                  <a:srgbClr val="4A5068"/>
                </a:solidFill>
                <a:latin typeface="Inter SemiBold" pitchFamily="34" charset="0"/>
                <a:ea typeface="Inter SemiBold" pitchFamily="34" charset="-122"/>
                <a:cs typeface="Inter SemiBold" pitchFamily="34" charset="-120"/>
              </a:rPr>
              <a:t>)</a:t>
            </a:r>
            <a:endParaRPr lang="en-US" sz="1200" dirty="0"/>
          </a:p>
        </p:txBody>
      </p:sp>
      <p:sp>
        <p:nvSpPr>
          <p:cNvPr id="6" name="Text 4"/>
          <p:cNvSpPr/>
          <p:nvPr/>
        </p:nvSpPr>
        <p:spPr>
          <a:xfrm>
            <a:off x="1046480" y="2157732"/>
            <a:ext cx="7236409" cy="52324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B2140"/>
                </a:solidFill>
                <a:latin typeface="Inter SemiBold" pitchFamily="34" charset="0"/>
                <a:ea typeface="Inter SemiBold" pitchFamily="34" charset="-122"/>
                <a:cs typeface="Inter SemiBold" pitchFamily="34" charset="-120"/>
              </a:rPr>
              <a:t>"Mobile app screen for Android, 360×800 dp, Vietnamese UI text exactly as quoted."</a:t>
            </a:r>
            <a:endParaRPr lang="en-US" sz="1400" dirty="0"/>
          </a:p>
        </p:txBody>
      </p:sp>
      <p:sp>
        <p:nvSpPr>
          <p:cNvPr id="7" name="Text 5"/>
          <p:cNvSpPr/>
          <p:nvPr/>
        </p:nvSpPr>
        <p:spPr>
          <a:xfrm>
            <a:off x="1046480" y="2757171"/>
            <a:ext cx="7236409"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B2140"/>
                </a:solidFill>
                <a:latin typeface="Inter SemiBold" pitchFamily="34" charset="0"/>
                <a:ea typeface="Inter SemiBold" pitchFamily="34" charset="-122"/>
                <a:cs typeface="Inter SemiBold" pitchFamily="34" charset="-120"/>
              </a:rPr>
              <a:t>"… this phone screen only monitors the scans."</a:t>
            </a:r>
            <a:endParaRPr lang="en-US" sz="1400" dirty="0"/>
          </a:p>
        </p:txBody>
      </p:sp>
      <p:sp>
        <p:nvSpPr>
          <p:cNvPr id="8" name="Text 6"/>
          <p:cNvSpPr/>
          <p:nvPr/>
        </p:nvSpPr>
        <p:spPr>
          <a:xfrm>
            <a:off x="1046480" y="3107689"/>
            <a:ext cx="7236409"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B2140"/>
                </a:solidFill>
                <a:latin typeface="Inter SemiBold" pitchFamily="34" charset="0"/>
                <a:ea typeface="Inter SemiBold" pitchFamily="34" charset="-122"/>
                <a:cs typeface="Inter SemiBold" pitchFamily="34" charset="-120"/>
              </a:rPr>
              <a:t>"No text smaller than 14 sp, all touch targets at least 48 dp."</a:t>
            </a:r>
            <a:endParaRPr lang="en-US" sz="1400" dirty="0"/>
          </a:p>
        </p:txBody>
      </p:sp>
      <p:sp>
        <p:nvSpPr>
          <p:cNvPr id="9" name="Text 7"/>
          <p:cNvSpPr/>
          <p:nvPr/>
        </p:nvSpPr>
        <p:spPr>
          <a:xfrm>
            <a:off x="812800" y="3793489"/>
            <a:ext cx="77177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3412"/>
                </a:solidFill>
                <a:latin typeface="Be Vietnam Pro" pitchFamily="34" charset="0"/>
                <a:ea typeface="Be Vietnam Pro" pitchFamily="34" charset="-122"/>
                <a:cs typeface="Be Vietnam Pro" pitchFamily="34" charset="-120"/>
              </a:rPr>
              <a:t>Stitch làm sai ở đâu</a:t>
            </a:r>
            <a:endParaRPr lang="en-US" sz="1400" dirty="0"/>
          </a:p>
        </p:txBody>
      </p:sp>
      <p:sp>
        <p:nvSpPr>
          <p:cNvPr id="10" name="Text 8"/>
          <p:cNvSpPr/>
          <p:nvPr/>
        </p:nvSpPr>
        <p:spPr>
          <a:xfrm>
            <a:off x="812800" y="41567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1</a:t>
            </a:r>
            <a:endParaRPr lang="en-US" sz="1300" dirty="0"/>
          </a:p>
        </p:txBody>
      </p:sp>
      <p:sp>
        <p:nvSpPr>
          <p:cNvPr id="11" name="Text 9"/>
          <p:cNvSpPr/>
          <p:nvPr/>
        </p:nvSpPr>
        <p:spPr>
          <a:xfrm>
            <a:off x="1244600" y="4184650"/>
            <a:ext cx="2139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40"/>
                </a:solidFill>
                <a:latin typeface="Inter" pitchFamily="34" charset="0"/>
                <a:ea typeface="Inter" pitchFamily="34" charset="-122"/>
                <a:cs typeface="Inter" pitchFamily="34" charset="-120"/>
              </a:rPr>
              <a:t>CR-01</a:t>
            </a:r>
            <a:r>
              <a:rPr lang="en-US" sz="1400" dirty="0">
                <a:solidFill>
                  <a:srgbClr val="1B2140"/>
                </a:solidFill>
                <a:latin typeface="Inter SemiBold" pitchFamily="34" charset="0"/>
                <a:ea typeface="Inter SemiBold" pitchFamily="34" charset="-122"/>
                <a:cs typeface="Inter SemiBold" pitchFamily="34" charset="-120"/>
              </a:rPr>
              <a:t> · Hai nút chính</a:t>
            </a:r>
            <a:endParaRPr lang="en-US" sz="1400" dirty="0"/>
          </a:p>
        </p:txBody>
      </p:sp>
      <p:sp>
        <p:nvSpPr>
          <p:cNvPr id="12" name="Text 10"/>
          <p:cNvSpPr/>
          <p:nvPr/>
        </p:nvSpPr>
        <p:spPr>
          <a:xfrm>
            <a:off x="812800" y="45758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2</a:t>
            </a:r>
            <a:endParaRPr lang="en-US" sz="1300" dirty="0"/>
          </a:p>
        </p:txBody>
      </p:sp>
      <p:sp>
        <p:nvSpPr>
          <p:cNvPr id="13" name="Text 11"/>
          <p:cNvSpPr/>
          <p:nvPr/>
        </p:nvSpPr>
        <p:spPr>
          <a:xfrm>
            <a:off x="1244600" y="4603750"/>
            <a:ext cx="36443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40"/>
                </a:solidFill>
                <a:latin typeface="Inter" pitchFamily="34" charset="0"/>
                <a:ea typeface="Inter" pitchFamily="34" charset="-122"/>
                <a:cs typeface="Inter" pitchFamily="34" charset="-120"/>
              </a:rPr>
              <a:t>CR-02</a:t>
            </a:r>
            <a:r>
              <a:rPr lang="en-US" sz="1400" dirty="0">
                <a:solidFill>
                  <a:srgbClr val="1B2140"/>
                </a:solidFill>
                <a:latin typeface="Inter SemiBold" pitchFamily="34" charset="0"/>
                <a:ea typeface="Inter SemiBold" pitchFamily="34" charset="-122"/>
                <a:cs typeface="Inter SemiBold" pitchFamily="34" charset="-120"/>
              </a:rPr>
              <a:t> · Bịa ra kiểm tra địa chỉ mạng</a:t>
            </a:r>
            <a:endParaRPr lang="en-US" sz="1400" dirty="0"/>
          </a:p>
        </p:txBody>
      </p:sp>
      <p:sp>
        <p:nvSpPr>
          <p:cNvPr id="14" name="Text 12"/>
          <p:cNvSpPr/>
          <p:nvPr/>
        </p:nvSpPr>
        <p:spPr>
          <a:xfrm>
            <a:off x="812800" y="499491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3</a:t>
            </a:r>
            <a:endParaRPr lang="en-US" sz="1300" dirty="0"/>
          </a:p>
        </p:txBody>
      </p:sp>
      <p:sp>
        <p:nvSpPr>
          <p:cNvPr id="15" name="Text 13"/>
          <p:cNvSpPr/>
          <p:nvPr/>
        </p:nvSpPr>
        <p:spPr>
          <a:xfrm>
            <a:off x="1244600" y="5022850"/>
            <a:ext cx="254517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40"/>
                </a:solidFill>
                <a:latin typeface="Inter" pitchFamily="34" charset="0"/>
                <a:ea typeface="Inter" pitchFamily="34" charset="-122"/>
                <a:cs typeface="Inter" pitchFamily="34" charset="-120"/>
              </a:rPr>
              <a:t>CR-03</a:t>
            </a:r>
            <a:r>
              <a:rPr lang="en-US" sz="1400" dirty="0">
                <a:solidFill>
                  <a:srgbClr val="1B2140"/>
                </a:solidFill>
                <a:latin typeface="Inter SemiBold" pitchFamily="34" charset="0"/>
                <a:ea typeface="Inter SemiBold" pitchFamily="34" charset="-122"/>
                <a:cs typeface="Inter SemiBold" pitchFamily="34" charset="-120"/>
              </a:rPr>
              <a:t> · Chữ Anh lẫn Việt</a:t>
            </a:r>
            <a:endParaRPr lang="en-US" sz="1400" dirty="0"/>
          </a:p>
        </p:txBody>
      </p:sp>
      <p:pic>
        <p:nvPicPr>
          <p:cNvPr id="16" name="Image 0" descr="SC-03 bản IT-0 của Stitch: hai nút chính, dòng kiểm tra mạng, chữ tiếng Anh">    </p:cNvPr>
          <p:cNvPicPr>
            <a:picLocks noChangeAspect="1"/>
          </p:cNvPicPr>
          <p:nvPr/>
        </p:nvPicPr>
        <p:blipFill>
          <a:blip r:embed="rId1"/>
          <a:srcRect l="144" r="144" t="0" b="0"/>
          <a:stretch/>
        </p:blipFill>
        <p:spPr>
          <a:xfrm>
            <a:off x="9061450" y="717550"/>
            <a:ext cx="2311400" cy="5321300"/>
          </a:xfrm>
          <a:prstGeom prst="roundRect">
            <a:avLst>
              <a:gd name="adj" fmla="val 6319"/>
            </a:avLst>
          </a:prstGeom>
        </p:spPr>
      </p:pic>
      <p:sp>
        <p:nvSpPr>
          <p:cNvPr id="17" name="Shape 14"/>
          <p:cNvSpPr/>
          <p:nvPr/>
        </p:nvSpPr>
        <p:spPr>
          <a:xfrm>
            <a:off x="9058275" y="714375"/>
            <a:ext cx="2317750" cy="5327650"/>
          </a:xfrm>
          <a:prstGeom prst="roundRect">
            <a:avLst>
              <a:gd name="adj" fmla="val 6438"/>
            </a:avLst>
          </a:prstGeom>
          <a:noFill/>
          <a:ln w="19050">
            <a:solidFill>
              <a:srgbClr val="C9CCD8"/>
            </a:solidFill>
            <a:prstDash val="solid"/>
          </a:ln>
        </p:spPr>
      </p:sp>
      <p:sp>
        <p:nvSpPr>
          <p:cNvPr id="18" name="Text 15"/>
          <p:cNvSpPr/>
          <p:nvPr/>
        </p:nvSpPr>
        <p:spPr>
          <a:xfrm>
            <a:off x="8674100" y="71755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3</a:t>
            </a:r>
            <a:endParaRPr lang="en-US" sz="1300" dirty="0"/>
          </a:p>
        </p:txBody>
      </p:sp>
      <p:sp>
        <p:nvSpPr>
          <p:cNvPr id="19" name="Text 16"/>
          <p:cNvSpPr/>
          <p:nvPr/>
        </p:nvSpPr>
        <p:spPr>
          <a:xfrm>
            <a:off x="8674100" y="521970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2</a:t>
            </a:r>
            <a:endParaRPr lang="en-US" sz="1300" dirty="0"/>
          </a:p>
        </p:txBody>
      </p:sp>
      <p:sp>
        <p:nvSpPr>
          <p:cNvPr id="20" name="Text 17"/>
          <p:cNvSpPr/>
          <p:nvPr/>
        </p:nvSpPr>
        <p:spPr>
          <a:xfrm>
            <a:off x="8674100" y="568960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9A3412"/>
          </a:solidFill>
          <a:ln/>
        </p:spPr>
        <p:txBody>
          <a:bodyPr wrap="square" lIns="0" tIns="0" rIns="0" bIns="0" rtlCol="0" anchor="ctr">
            <a:normAutofit/>
          </a:bodyPr>
          <a:lstStyle/>
          <a:p>
            <a:pPr algn="ctr" indent="0" marL="0">
              <a:buNone/>
            </a:pPr>
            <a:r>
              <a:rPr lang="en-US" sz="1300" b="1" dirty="0">
                <a:solidFill>
                  <a:srgbClr val="FCFCFE"/>
                </a:solidFill>
                <a:latin typeface="Be Vietnam Pro" pitchFamily="34" charset="0"/>
                <a:ea typeface="Be Vietnam Pro" pitchFamily="34" charset="-122"/>
                <a:cs typeface="Be Vietnam Pro" pitchFamily="34" charset="-120"/>
              </a:rPr>
              <a:t>1</a:t>
            </a:r>
            <a:endParaRPr lang="en-US" sz="1300" dirty="0"/>
          </a:p>
        </p:txBody>
      </p:sp>
      <p:sp>
        <p:nvSpPr>
          <p:cNvPr id="21" name="Text 18"/>
          <p:cNvSpPr/>
          <p:nvPr/>
        </p:nvSpPr>
        <p:spPr>
          <a:xfrm>
            <a:off x="812800" y="6238239"/>
            <a:ext cx="74055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5">
                  <a:extLst>
                    <a:ext uri="{A12FA001-AC4F-418D-AE19-62706E023703}">
                      <ahyp:hlinkClr xmlns:ahyp="http://schemas.microsoft.com/office/drawing/2018/hyperlinkcolor" val="tx"/>
                    </a:ext>
                  </a:extLst>
                </a:hlinkClick>
              </a:rPr>
              <a:t>design/DESIGN.md</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6">
                  <a:extLst>
                    <a:ext uri="{A12FA001-AC4F-418D-AE19-62706E023703}">
                      <ahyp:hlinkClr xmlns:ahyp="http://schemas.microsoft.com/office/drawing/2018/hyperlinkcolor" val="tx"/>
                    </a:ext>
                  </a:extLst>
                </a:hlinkClick>
              </a:rPr>
              <a:t>ai/ai-design-log.md AI-18</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7">
                  <a:extLst>
                    <a:ext uri="{A12FA001-AC4F-418D-AE19-62706E023703}">
                      <ahyp:hlinkClr xmlns:ahyp="http://schemas.microsoft.com/office/drawing/2018/hyperlinkcolor" val="tx"/>
                    </a:ext>
                  </a:extLst>
                </a:hlinkClick>
              </a:rPr>
              <a:t>assets/stitch/IT-0-*.png</a:t>
            </a:r>
            <a:endParaRPr lang="en-US" sz="1200" dirty="0"/>
          </a:p>
        </p:txBody>
      </p:sp>
      <p:sp>
        <p:nvSpPr>
          <p:cNvPr id="22" name="Text 19"/>
          <p:cNvSpPr/>
          <p:nvPr/>
        </p:nvSpPr>
        <p:spPr>
          <a:xfrm>
            <a:off x="10915999" y="6238239"/>
            <a:ext cx="463201"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AI tạo UI · Ba vòng phản biện</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Ba vòng sửa, mỗi vòng một vấn đề khác</a:t>
            </a:r>
            <a:endParaRPr lang="en-US" sz="2600" dirty="0"/>
          </a:p>
        </p:txBody>
      </p:sp>
      <p:sp>
        <p:nvSpPr>
          <p:cNvPr id="4" name="Shape 2"/>
          <p:cNvSpPr/>
          <p:nvPr/>
        </p:nvSpPr>
        <p:spPr>
          <a:xfrm>
            <a:off x="812800" y="1609089"/>
            <a:ext cx="2489200" cy="2984500"/>
          </a:xfrm>
          <a:prstGeom prst="roundRect">
            <a:avLst>
              <a:gd name="adj" fmla="val 3571"/>
            </a:avLst>
          </a:prstGeom>
          <a:solidFill>
            <a:srgbClr val="E6E8F0"/>
          </a:solidFill>
          <a:ln/>
        </p:spPr>
      </p:sp>
      <p:pic>
        <p:nvPicPr>
          <p:cNvPr id="5" name="Image 0" descr="SC-03 bản IT-0 của Stitch">    </p:cNvPr>
          <p:cNvPicPr>
            <a:picLocks noChangeAspect="1"/>
          </p:cNvPicPr>
          <p:nvPr/>
        </p:nvPicPr>
        <p:blipFill>
          <a:blip r:embed="rId1"/>
          <a:stretch>
            <a:fillRect/>
          </a:stretch>
        </p:blipFill>
        <p:spPr>
          <a:xfrm>
            <a:off x="1407339" y="1609089"/>
            <a:ext cx="1300123" cy="2984500"/>
          </a:xfrm>
          <a:prstGeom prst="rect">
            <a:avLst/>
          </a:prstGeom>
        </p:spPr>
      </p:pic>
      <p:sp>
        <p:nvSpPr>
          <p:cNvPr id="6" name="Text 3"/>
          <p:cNvSpPr/>
          <p:nvPr/>
        </p:nvSpPr>
        <p:spPr>
          <a:xfrm>
            <a:off x="812800" y="4682489"/>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3412"/>
                </a:solidFill>
                <a:latin typeface="Inter" pitchFamily="34" charset="0"/>
                <a:ea typeface="Inter" pitchFamily="34" charset="-122"/>
                <a:cs typeface="Inter" pitchFamily="34" charset="-120"/>
              </a:rPr>
              <a:t>IT-0 · bản đầu</a:t>
            </a:r>
            <a:endParaRPr lang="en-US" sz="1200" dirty="0"/>
          </a:p>
        </p:txBody>
      </p:sp>
      <p:sp>
        <p:nvSpPr>
          <p:cNvPr id="7" name="Text 4"/>
          <p:cNvSpPr/>
          <p:nvPr/>
        </p:nvSpPr>
        <p:spPr>
          <a:xfrm>
            <a:off x="812800" y="4984750"/>
            <a:ext cx="25638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068"/>
                </a:solidFill>
                <a:latin typeface="Inter SemiBold" pitchFamily="34" charset="0"/>
                <a:ea typeface="Inter SemiBold" pitchFamily="34" charset="-122"/>
                <a:cs typeface="Inter SemiBold" pitchFamily="34" charset="-120"/>
              </a:rPr>
              <a:t>2 nút chính, chữ Anh lẫn Việt</a:t>
            </a:r>
            <a:endParaRPr lang="en-US" sz="1200" dirty="0"/>
          </a:p>
        </p:txBody>
      </p:sp>
      <p:sp>
        <p:nvSpPr>
          <p:cNvPr id="8" name="Shape 5"/>
          <p:cNvSpPr/>
          <p:nvPr/>
        </p:nvSpPr>
        <p:spPr>
          <a:xfrm>
            <a:off x="3505200" y="1609089"/>
            <a:ext cx="2489200" cy="2984500"/>
          </a:xfrm>
          <a:prstGeom prst="roundRect">
            <a:avLst>
              <a:gd name="adj" fmla="val 3571"/>
            </a:avLst>
          </a:prstGeom>
          <a:solidFill>
            <a:srgbClr val="E6E8F0"/>
          </a:solidFill>
          <a:ln/>
        </p:spPr>
      </p:sp>
      <p:pic>
        <p:nvPicPr>
          <p:cNvPr id="9" name="Image 1" descr="SC-03 bản IT-1 của Stitch">    </p:cNvPr>
          <p:cNvPicPr>
            <a:picLocks noChangeAspect="1"/>
          </p:cNvPicPr>
          <p:nvPr/>
        </p:nvPicPr>
        <p:blipFill>
          <a:blip r:embed="rId2"/>
          <a:stretch>
            <a:fillRect/>
          </a:stretch>
        </p:blipFill>
        <p:spPr>
          <a:xfrm>
            <a:off x="3998274" y="1609089"/>
            <a:ext cx="1503052" cy="2984500"/>
          </a:xfrm>
          <a:prstGeom prst="rect">
            <a:avLst/>
          </a:prstGeom>
        </p:spPr>
      </p:pic>
      <p:sp>
        <p:nvSpPr>
          <p:cNvPr id="10" name="Text 6"/>
          <p:cNvSpPr/>
          <p:nvPr/>
        </p:nvSpPr>
        <p:spPr>
          <a:xfrm>
            <a:off x="3505200" y="4682489"/>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Vòng 1 · việc chính</a:t>
            </a:r>
            <a:endParaRPr lang="en-US" sz="1200" dirty="0"/>
          </a:p>
        </p:txBody>
      </p:sp>
      <p:sp>
        <p:nvSpPr>
          <p:cNvPr id="11" name="Text 7"/>
          <p:cNvSpPr/>
          <p:nvPr/>
        </p:nvSpPr>
        <p:spPr>
          <a:xfrm>
            <a:off x="3505200" y="4984750"/>
            <a:ext cx="25638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068"/>
                </a:solidFill>
                <a:latin typeface="Inter SemiBold" pitchFamily="34" charset="0"/>
                <a:ea typeface="Inter SemiBold" pitchFamily="34" charset="-122"/>
                <a:cs typeface="Inter SemiBold" pitchFamily="34" charset="-120"/>
              </a:rPr>
              <a:t>1 nút chính, toàn tiếng Việt</a:t>
            </a:r>
            <a:endParaRPr lang="en-US" sz="1200" dirty="0"/>
          </a:p>
        </p:txBody>
      </p:sp>
      <p:sp>
        <p:nvSpPr>
          <p:cNvPr id="12" name="Shape 8"/>
          <p:cNvSpPr/>
          <p:nvPr/>
        </p:nvSpPr>
        <p:spPr>
          <a:xfrm>
            <a:off x="6197600" y="1609089"/>
            <a:ext cx="2489200" cy="2984500"/>
          </a:xfrm>
          <a:prstGeom prst="roundRect">
            <a:avLst>
              <a:gd name="adj" fmla="val 3571"/>
            </a:avLst>
          </a:prstGeom>
          <a:solidFill>
            <a:srgbClr val="E6E8F0"/>
          </a:solidFill>
          <a:ln/>
        </p:spPr>
      </p:sp>
      <p:pic>
        <p:nvPicPr>
          <p:cNvPr id="13" name="Image 2" descr="SC-03 bản IT-2 của Stitch">    </p:cNvPr>
          <p:cNvPicPr>
            <a:picLocks noChangeAspect="1"/>
          </p:cNvPicPr>
          <p:nvPr/>
        </p:nvPicPr>
        <p:blipFill>
          <a:blip r:embed="rId3"/>
          <a:stretch>
            <a:fillRect/>
          </a:stretch>
        </p:blipFill>
        <p:spPr>
          <a:xfrm>
            <a:off x="6709614" y="1609089"/>
            <a:ext cx="1465173" cy="2984500"/>
          </a:xfrm>
          <a:prstGeom prst="rect">
            <a:avLst/>
          </a:prstGeom>
        </p:spPr>
      </p:pic>
      <p:sp>
        <p:nvSpPr>
          <p:cNvPr id="14" name="Text 9"/>
          <p:cNvSpPr/>
          <p:nvPr/>
        </p:nvSpPr>
        <p:spPr>
          <a:xfrm>
            <a:off x="6197600" y="4682489"/>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Vòng 2 · bố cục 360 dp</a:t>
            </a:r>
            <a:endParaRPr lang="en-US" sz="1200" dirty="0"/>
          </a:p>
        </p:txBody>
      </p:sp>
      <p:sp>
        <p:nvSpPr>
          <p:cNvPr id="15" name="Text 10"/>
          <p:cNvSpPr/>
          <p:nvPr/>
        </p:nvSpPr>
        <p:spPr>
          <a:xfrm>
            <a:off x="6197600" y="4984750"/>
            <a:ext cx="25638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068"/>
                </a:solidFill>
                <a:latin typeface="Inter SemiBold" pitchFamily="34" charset="0"/>
                <a:ea typeface="Inter SemiBold" pitchFamily="34" charset="-122"/>
                <a:cs typeface="Inter SemiBold" pitchFamily="34" charset="-120"/>
              </a:rPr>
              <a:t>Hết cắt chữ, viền đạt 4,16:1</a:t>
            </a:r>
            <a:endParaRPr lang="en-US" sz="1200" dirty="0"/>
          </a:p>
        </p:txBody>
      </p:sp>
      <p:sp>
        <p:nvSpPr>
          <p:cNvPr id="16" name="Shape 11"/>
          <p:cNvSpPr/>
          <p:nvPr/>
        </p:nvSpPr>
        <p:spPr>
          <a:xfrm>
            <a:off x="8890000" y="1609089"/>
            <a:ext cx="2489200" cy="2984500"/>
          </a:xfrm>
          <a:prstGeom prst="roundRect">
            <a:avLst>
              <a:gd name="adj" fmla="val 3571"/>
            </a:avLst>
          </a:prstGeom>
          <a:solidFill>
            <a:srgbClr val="E6E8F0"/>
          </a:solidFill>
          <a:ln/>
        </p:spPr>
      </p:sp>
      <p:pic>
        <p:nvPicPr>
          <p:cNvPr id="17" name="Image 3" descr="SC-03 bản cuối trên Figma">    </p:cNvPr>
          <p:cNvPicPr>
            <a:picLocks noChangeAspect="1"/>
          </p:cNvPicPr>
          <p:nvPr/>
        </p:nvPicPr>
        <p:blipFill>
          <a:blip r:embed="rId4"/>
          <a:stretch>
            <a:fillRect/>
          </a:stretch>
        </p:blipFill>
        <p:spPr>
          <a:xfrm>
            <a:off x="9463088" y="1609089"/>
            <a:ext cx="1343025" cy="2984500"/>
          </a:xfrm>
          <a:prstGeom prst="rect">
            <a:avLst/>
          </a:prstGeom>
        </p:spPr>
      </p:pic>
      <p:sp>
        <p:nvSpPr>
          <p:cNvPr id="18" name="Text 12"/>
          <p:cNvSpPr/>
          <p:nvPr/>
        </p:nvSpPr>
        <p:spPr>
          <a:xfrm>
            <a:off x="8890000" y="4682489"/>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Vòng 3 · Stitch IT-3, rồi Figma</a:t>
            </a:r>
            <a:endParaRPr lang="en-US" sz="1200" dirty="0"/>
          </a:p>
        </p:txBody>
      </p:sp>
      <p:sp>
        <p:nvSpPr>
          <p:cNvPr id="19" name="Text 13"/>
          <p:cNvSpPr/>
          <p:nvPr/>
        </p:nvSpPr>
        <p:spPr>
          <a:xfrm>
            <a:off x="8890000" y="4984750"/>
            <a:ext cx="25638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068"/>
                </a:solidFill>
                <a:latin typeface="Inter SemiBold" pitchFamily="34" charset="0"/>
                <a:ea typeface="Inter SemiBold" pitchFamily="34" charset="-122"/>
                <a:cs typeface="Inter SemiBold" pitchFamily="34" charset="-120"/>
              </a:rPr>
              <a:t>Bộ đếm đủ 3 trạng thái QR</a:t>
            </a:r>
            <a:endParaRPr lang="en-US" sz="1200" dirty="0"/>
          </a:p>
        </p:txBody>
      </p:sp>
      <p:sp>
        <p:nvSpPr>
          <p:cNvPr id="20" name="Text 14"/>
          <p:cNvSpPr/>
          <p:nvPr/>
        </p:nvSpPr>
        <p:spPr>
          <a:xfrm>
            <a:off x="812800" y="5419089"/>
            <a:ext cx="10566400" cy="416560"/>
          </a:xfrm>
          <a:prstGeom prst="roundRect">
            <a:avLst>
              <a:gd name="adj" fmla="val 18293"/>
            </a:avLst>
          </a:prstGeom>
          <a:solidFill>
            <a:srgbClr val="ECEEF8"/>
          </a:solidFill>
          <a:ln/>
        </p:spPr>
        <p:txBody>
          <a:bodyPr wrap="square" lIns="130082" tIns="79282" rIns="0" bIns="53882" rtlCol="0" anchor="ctr">
            <a:normAutofit/>
          </a:bodyPr>
          <a:lstStyle/>
          <a:p>
            <a:pPr algn="l" indent="0" marL="0">
              <a:buNone/>
            </a:pPr>
            <a:r>
              <a:rPr lang="en-US" sz="1200" b="1" dirty="0" u="sng">
                <a:solidFill>
                  <a:srgbClr val="1B2140"/>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73 phát hiện có mã CR</a:t>
            </a:r>
            <a:r>
              <a:rPr lang="en-US" sz="1200" dirty="0">
                <a:solidFill>
                  <a:srgbClr val="1B2140"/>
                </a:solidFill>
                <a:latin typeface="Inter SemiBold" pitchFamily="34" charset="0"/>
                <a:ea typeface="Inter SemiBold" pitchFamily="34" charset="-122"/>
                <a:cs typeface="Inter SemiBold" pitchFamily="34" charset="-120"/>
              </a:rPr>
              <a:t> (CR-01..CR-73), mỗi phát hiện ghi heuristic hoặc WCAG và quyết định.</a:t>
            </a:r>
            <a:endParaRPr lang="en-US" sz="1200" dirty="0"/>
          </a:p>
        </p:txBody>
      </p:sp>
      <p:sp>
        <p:nvSpPr>
          <p:cNvPr id="21" name="Text 15"/>
          <p:cNvSpPr/>
          <p:nvPr/>
        </p:nvSpPr>
        <p:spPr>
          <a:xfrm>
            <a:off x="812800" y="6238239"/>
            <a:ext cx="64669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8">
                  <a:extLst>
                    <a:ext uri="{A12FA001-AC4F-418D-AE19-62706E023703}">
                      <ahyp:hlinkClr xmlns:ahyp="http://schemas.microsoft.com/office/drawing/2018/hyperlinkcolor" val="tx"/>
                    </a:ext>
                  </a:extLst>
                </a:hlinkClick>
              </a:rPr>
              <a:t>design/stitch-critique-it0</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9">
                  <a:extLst>
                    <a:ext uri="{A12FA001-AC4F-418D-AE19-62706E023703}">
                      <ahyp:hlinkClr xmlns:ahyp="http://schemas.microsoft.com/office/drawing/2018/hyperlinkcolor" val="tx"/>
                    </a:ext>
                  </a:extLst>
                </a:hlinkClick>
              </a:rPr>
              <a:t>it3.md</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10">
                  <a:extLst>
                    <a:ext uri="{A12FA001-AC4F-418D-AE19-62706E023703}">
                      <ahyp:hlinkClr xmlns:ahyp="http://schemas.microsoft.com/office/drawing/2018/hyperlinkcolor" val="tx"/>
                    </a:ext>
                  </a:extLst>
                </a:hlinkClick>
              </a:rPr>
              <a:t>design/final-ui-review.md</a:t>
            </a:r>
            <a:endParaRPr lang="en-US" sz="1200" dirty="0"/>
          </a:p>
        </p:txBody>
      </p:sp>
      <p:sp>
        <p:nvSpPr>
          <p:cNvPr id="22" name="Text 16"/>
          <p:cNvSpPr/>
          <p:nvPr/>
        </p:nvSpPr>
        <p:spPr>
          <a:xfrm>
            <a:off x="10911046" y="6238239"/>
            <a:ext cx="46815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140"/>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AI tạo UI · Ai quyết định</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5F5F8"/>
                </a:solidFill>
                <a:latin typeface="Be Vietnam Pro" pitchFamily="34" charset="0"/>
                <a:ea typeface="Be Vietnam Pro" pitchFamily="34" charset="-122"/>
                <a:cs typeface="Be Vietnam Pro" pitchFamily="34" charset="-120"/>
              </a:rPr>
              <a:t>Chấp nhận, sửa, hay bỏ gợi ý của AI</a:t>
            </a:r>
            <a:endParaRPr lang="en-US" sz="2600" dirty="0"/>
          </a:p>
        </p:txBody>
      </p:sp>
      <p:sp>
        <p:nvSpPr>
          <p:cNvPr id="4" name="Shape 2"/>
          <p:cNvSpPr/>
          <p:nvPr/>
        </p:nvSpPr>
        <p:spPr>
          <a:xfrm>
            <a:off x="812800" y="2003424"/>
            <a:ext cx="3352800" cy="0"/>
          </a:xfrm>
          <a:prstGeom prst="line">
            <a:avLst/>
          </a:prstGeom>
          <a:noFill/>
          <a:ln w="25400">
            <a:solidFill>
              <a:srgbClr val="9FD9BC"/>
            </a:solidFill>
            <a:prstDash val="solid"/>
          </a:ln>
        </p:spPr>
      </p:sp>
      <p:pic>
        <p:nvPicPr>
          <p:cNvPr id="5" name="Image 0" descr="CheckCircle">    </p:cNvPr>
          <p:cNvPicPr>
            <a:picLocks noChangeAspect="1"/>
          </p:cNvPicPr>
          <p:nvPr/>
        </p:nvPicPr>
        <p:blipFill>
          <a:blip r:embed="rId1"/>
          <a:srcRect l="0" r="0" t="0" b="0"/>
          <a:stretch/>
        </p:blipFill>
        <p:spPr>
          <a:xfrm>
            <a:off x="812800" y="1644650"/>
            <a:ext cx="254000" cy="254000"/>
          </a:xfrm>
          <a:prstGeom prst="rect">
            <a:avLst/>
          </a:prstGeom>
        </p:spPr>
      </p:pic>
      <p:sp>
        <p:nvSpPr>
          <p:cNvPr id="6" name="Text 3"/>
          <p:cNvSpPr/>
          <p:nvPr/>
        </p:nvSpPr>
        <p:spPr>
          <a:xfrm>
            <a:off x="1155700" y="1634489"/>
            <a:ext cx="14858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FD9BC"/>
                </a:solidFill>
                <a:latin typeface="Be Vietnam Pro" pitchFamily="34" charset="0"/>
                <a:ea typeface="Be Vietnam Pro" pitchFamily="34" charset="-122"/>
                <a:cs typeface="Be Vietnam Pro" pitchFamily="34" charset="-120"/>
              </a:rPr>
              <a:t>Chấp nhận</a:t>
            </a:r>
            <a:endParaRPr lang="en-US" sz="1800" dirty="0"/>
          </a:p>
        </p:txBody>
      </p:sp>
      <p:sp>
        <p:nvSpPr>
          <p:cNvPr id="7" name="Shape 4"/>
          <p:cNvSpPr/>
          <p:nvPr/>
        </p:nvSpPr>
        <p:spPr>
          <a:xfrm>
            <a:off x="812800" y="2139950"/>
            <a:ext cx="3352800" cy="1271270"/>
          </a:xfrm>
          <a:prstGeom prst="roundRect">
            <a:avLst>
              <a:gd name="adj" fmla="val 7992"/>
            </a:avLst>
          </a:prstGeom>
          <a:solidFill>
            <a:srgbClr val="222A4D"/>
          </a:solidFill>
          <a:ln/>
        </p:spPr>
      </p:sp>
      <p:sp>
        <p:nvSpPr>
          <p:cNvPr id="8" name="Text 5"/>
          <p:cNvSpPr/>
          <p:nvPr/>
        </p:nvSpPr>
        <p:spPr>
          <a:xfrm>
            <a:off x="990600" y="2292350"/>
            <a:ext cx="30871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CR-19</a:t>
            </a:r>
            <a:endParaRPr lang="en-US" sz="1200" dirty="0"/>
          </a:p>
        </p:txBody>
      </p:sp>
      <p:sp>
        <p:nvSpPr>
          <p:cNvPr id="9" name="Text 6"/>
          <p:cNvSpPr/>
          <p:nvPr/>
        </p:nvSpPr>
        <p:spPr>
          <a:xfrm>
            <a:off x="990600" y="2556511"/>
            <a:ext cx="308711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5F8"/>
                </a:solidFill>
                <a:latin typeface="Inter SemiBold" pitchFamily="34" charset="0"/>
                <a:ea typeface="Inter SemiBold" pitchFamily="34" charset="-122"/>
                <a:cs typeface="Inter SemiBold" pitchFamily="34" charset="-120"/>
              </a:rPr>
              <a:t>Stitch: bộ đếm ngược QR chạy thật (đánh giá lại)</a:t>
            </a:r>
            <a:endParaRPr lang="en-US" sz="1300" dirty="0"/>
          </a:p>
        </p:txBody>
      </p:sp>
      <p:sp>
        <p:nvSpPr>
          <p:cNvPr id="10" name="Text 7"/>
          <p:cNvSpPr/>
          <p:nvPr/>
        </p:nvSpPr>
        <p:spPr>
          <a:xfrm>
            <a:off x="990600" y="3053082"/>
            <a:ext cx="308711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DD9"/>
                </a:solidFill>
                <a:latin typeface="Inter Medium" pitchFamily="34" charset="0"/>
                <a:ea typeface="Inter Medium" pitchFamily="34" charset="-122"/>
                <a:cs typeface="Inter Medium" pitchFamily="34" charset="-120"/>
              </a:rPr>
              <a:t>→ Thành component, 3 trạng thái</a:t>
            </a:r>
            <a:endParaRPr lang="en-US" sz="1200" dirty="0"/>
          </a:p>
        </p:txBody>
      </p:sp>
      <p:sp>
        <p:nvSpPr>
          <p:cNvPr id="11" name="Shape 8"/>
          <p:cNvSpPr/>
          <p:nvPr/>
        </p:nvSpPr>
        <p:spPr>
          <a:xfrm>
            <a:off x="4419600" y="2003424"/>
            <a:ext cx="3352800" cy="0"/>
          </a:xfrm>
          <a:prstGeom prst="line">
            <a:avLst/>
          </a:prstGeom>
          <a:noFill/>
          <a:ln w="25400">
            <a:solidFill>
              <a:srgbClr val="F2C77A"/>
            </a:solidFill>
            <a:prstDash val="solid"/>
          </a:ln>
        </p:spPr>
      </p:sp>
      <p:pic>
        <p:nvPicPr>
          <p:cNvPr id="12" name="Image 1" descr="Wrench">    </p:cNvPr>
          <p:cNvPicPr>
            <a:picLocks noChangeAspect="1"/>
          </p:cNvPicPr>
          <p:nvPr/>
        </p:nvPicPr>
        <p:blipFill>
          <a:blip r:embed="rId2"/>
          <a:srcRect l="0" r="0" t="0" b="0"/>
          <a:stretch/>
        </p:blipFill>
        <p:spPr>
          <a:xfrm>
            <a:off x="4419600" y="1644650"/>
            <a:ext cx="254000" cy="254000"/>
          </a:xfrm>
          <a:prstGeom prst="rect">
            <a:avLst/>
          </a:prstGeom>
        </p:spPr>
      </p:pic>
      <p:sp>
        <p:nvSpPr>
          <p:cNvPr id="13" name="Text 9"/>
          <p:cNvSpPr/>
          <p:nvPr/>
        </p:nvSpPr>
        <p:spPr>
          <a:xfrm>
            <a:off x="4762500" y="1634489"/>
            <a:ext cx="52806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C77A"/>
                </a:solidFill>
                <a:latin typeface="Be Vietnam Pro" pitchFamily="34" charset="0"/>
                <a:ea typeface="Be Vietnam Pro" pitchFamily="34" charset="-122"/>
                <a:cs typeface="Be Vietnam Pro" pitchFamily="34" charset="-120"/>
              </a:rPr>
              <a:t>Sửa</a:t>
            </a:r>
            <a:endParaRPr lang="en-US" sz="1800" dirty="0"/>
          </a:p>
        </p:txBody>
      </p:sp>
      <p:sp>
        <p:nvSpPr>
          <p:cNvPr id="14" name="Shape 10"/>
          <p:cNvSpPr/>
          <p:nvPr/>
        </p:nvSpPr>
        <p:spPr>
          <a:xfrm>
            <a:off x="4419600" y="2139950"/>
            <a:ext cx="3352800" cy="1047750"/>
          </a:xfrm>
          <a:prstGeom prst="roundRect">
            <a:avLst>
              <a:gd name="adj" fmla="val 8101"/>
            </a:avLst>
          </a:prstGeom>
          <a:solidFill>
            <a:srgbClr val="222A4D"/>
          </a:solidFill>
          <a:ln/>
        </p:spPr>
      </p:sp>
      <p:sp>
        <p:nvSpPr>
          <p:cNvPr id="15" name="Text 11"/>
          <p:cNvSpPr/>
          <p:nvPr/>
        </p:nvSpPr>
        <p:spPr>
          <a:xfrm>
            <a:off x="4597400" y="2292350"/>
            <a:ext cx="30871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CR-05</a:t>
            </a:r>
            <a:endParaRPr lang="en-US" sz="1200" dirty="0"/>
          </a:p>
        </p:txBody>
      </p:sp>
      <p:sp>
        <p:nvSpPr>
          <p:cNvPr id="16" name="Text 12"/>
          <p:cNvSpPr/>
          <p:nvPr/>
        </p:nvSpPr>
        <p:spPr>
          <a:xfrm>
            <a:off x="4597400" y="2556511"/>
            <a:ext cx="308711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5F8"/>
                </a:solidFill>
                <a:latin typeface="Inter SemiBold" pitchFamily="34" charset="0"/>
                <a:ea typeface="Inter SemiBold" pitchFamily="34" charset="-122"/>
                <a:cs typeface="Inter SemiBold" pitchFamily="34" charset="-120"/>
              </a:rPr>
              <a:t>Stitch: ảnh người thật kiểu stock</a:t>
            </a:r>
            <a:endParaRPr lang="en-US" sz="1300" dirty="0"/>
          </a:p>
        </p:txBody>
      </p:sp>
      <p:sp>
        <p:nvSpPr>
          <p:cNvPr id="17" name="Text 13"/>
          <p:cNvSpPr/>
          <p:nvPr/>
        </p:nvSpPr>
        <p:spPr>
          <a:xfrm>
            <a:off x="4597400" y="2830196"/>
            <a:ext cx="308711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DD9"/>
                </a:solidFill>
                <a:latin typeface="Inter Medium" pitchFamily="34" charset="0"/>
                <a:ea typeface="Inter Medium" pitchFamily="34" charset="-122"/>
                <a:cs typeface="Inter Medium" pitchFamily="34" charset="-120"/>
              </a:rPr>
              <a:t>→ Avatar chữ cái, ảnh FAP chỉ khi kiểm tra</a:t>
            </a:r>
            <a:endParaRPr lang="en-US" sz="1200" dirty="0"/>
          </a:p>
        </p:txBody>
      </p:sp>
      <p:sp>
        <p:nvSpPr>
          <p:cNvPr id="18" name="Shape 14"/>
          <p:cNvSpPr/>
          <p:nvPr/>
        </p:nvSpPr>
        <p:spPr>
          <a:xfrm>
            <a:off x="4419600" y="3316605"/>
            <a:ext cx="3352800" cy="1048385"/>
          </a:xfrm>
          <a:prstGeom prst="roundRect">
            <a:avLst>
              <a:gd name="adj" fmla="val 9691"/>
            </a:avLst>
          </a:prstGeom>
          <a:solidFill>
            <a:srgbClr val="222A4D"/>
          </a:solidFill>
          <a:ln/>
        </p:spPr>
      </p:sp>
      <p:sp>
        <p:nvSpPr>
          <p:cNvPr id="19" name="Text 15"/>
          <p:cNvSpPr/>
          <p:nvPr/>
        </p:nvSpPr>
        <p:spPr>
          <a:xfrm>
            <a:off x="4597400" y="3469005"/>
            <a:ext cx="30871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CR-16</a:t>
            </a:r>
            <a:endParaRPr lang="en-US" sz="1200" dirty="0"/>
          </a:p>
        </p:txBody>
      </p:sp>
      <p:sp>
        <p:nvSpPr>
          <p:cNvPr id="20" name="Text 16"/>
          <p:cNvSpPr/>
          <p:nvPr/>
        </p:nvSpPr>
        <p:spPr>
          <a:xfrm>
            <a:off x="4597400" y="3733166"/>
            <a:ext cx="308711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5F8"/>
                </a:solidFill>
                <a:latin typeface="Inter SemiBold" pitchFamily="34" charset="0"/>
                <a:ea typeface="Inter SemiBold" pitchFamily="34" charset="-122"/>
                <a:cs typeface="Inter SemiBold" pitchFamily="34" charset="-120"/>
              </a:rPr>
              <a:t>Stitch: nhắc chống gian lận ở màn lỗi</a:t>
            </a:r>
            <a:endParaRPr lang="en-US" sz="1300" dirty="0"/>
          </a:p>
        </p:txBody>
      </p:sp>
      <p:sp>
        <p:nvSpPr>
          <p:cNvPr id="21" name="Text 17"/>
          <p:cNvSpPr/>
          <p:nvPr/>
        </p:nvSpPr>
        <p:spPr>
          <a:xfrm>
            <a:off x="4597400" y="4006851"/>
            <a:ext cx="308711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DD9"/>
                </a:solidFill>
                <a:latin typeface="Inter Medium" pitchFamily="34" charset="0"/>
                <a:ea typeface="Inter Medium" pitchFamily="34" charset="-122"/>
                <a:cs typeface="Inter Medium" pitchFamily="34" charset="-120"/>
              </a:rPr>
              <a:t>→ Dời lên màn quét, trước hành vi</a:t>
            </a:r>
            <a:endParaRPr lang="en-US" sz="1200" dirty="0"/>
          </a:p>
        </p:txBody>
      </p:sp>
      <p:sp>
        <p:nvSpPr>
          <p:cNvPr id="22" name="Shape 18"/>
          <p:cNvSpPr/>
          <p:nvPr/>
        </p:nvSpPr>
        <p:spPr>
          <a:xfrm>
            <a:off x="8026400" y="2003424"/>
            <a:ext cx="3352800" cy="0"/>
          </a:xfrm>
          <a:prstGeom prst="line">
            <a:avLst/>
          </a:prstGeom>
          <a:noFill/>
          <a:ln w="25400">
            <a:solidFill>
              <a:srgbClr val="F7A58F"/>
            </a:solidFill>
            <a:prstDash val="solid"/>
          </a:ln>
        </p:spPr>
      </p:sp>
      <p:pic>
        <p:nvPicPr>
          <p:cNvPr id="23" name="Image 2" descr="Warning">    </p:cNvPr>
          <p:cNvPicPr>
            <a:picLocks noChangeAspect="1"/>
          </p:cNvPicPr>
          <p:nvPr/>
        </p:nvPicPr>
        <p:blipFill>
          <a:blip r:embed="rId3"/>
          <a:srcRect l="0" r="0" t="0" b="0"/>
          <a:stretch/>
        </p:blipFill>
        <p:spPr>
          <a:xfrm>
            <a:off x="8026400" y="1644650"/>
            <a:ext cx="254000" cy="254000"/>
          </a:xfrm>
          <a:prstGeom prst="rect">
            <a:avLst/>
          </a:prstGeom>
        </p:spPr>
      </p:pic>
      <p:sp>
        <p:nvSpPr>
          <p:cNvPr id="24" name="Text 19"/>
          <p:cNvSpPr/>
          <p:nvPr/>
        </p:nvSpPr>
        <p:spPr>
          <a:xfrm>
            <a:off x="8369300" y="1634489"/>
            <a:ext cx="3749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A58F"/>
                </a:solidFill>
                <a:latin typeface="Be Vietnam Pro" pitchFamily="34" charset="0"/>
                <a:ea typeface="Be Vietnam Pro" pitchFamily="34" charset="-122"/>
                <a:cs typeface="Be Vietnam Pro" pitchFamily="34" charset="-120"/>
              </a:rPr>
              <a:t>Bỏ</a:t>
            </a:r>
            <a:endParaRPr lang="en-US" sz="1800" dirty="0"/>
          </a:p>
        </p:txBody>
      </p:sp>
      <p:sp>
        <p:nvSpPr>
          <p:cNvPr id="25" name="Shape 20"/>
          <p:cNvSpPr/>
          <p:nvPr/>
        </p:nvSpPr>
        <p:spPr>
          <a:xfrm>
            <a:off x="8026400" y="2139950"/>
            <a:ext cx="3352800" cy="1048385"/>
          </a:xfrm>
          <a:prstGeom prst="roundRect">
            <a:avLst>
              <a:gd name="adj" fmla="val 9691"/>
            </a:avLst>
          </a:prstGeom>
          <a:solidFill>
            <a:srgbClr val="222A4D"/>
          </a:solidFill>
          <a:ln/>
        </p:spPr>
      </p:sp>
      <p:sp>
        <p:nvSpPr>
          <p:cNvPr id="26" name="Text 21"/>
          <p:cNvSpPr/>
          <p:nvPr/>
        </p:nvSpPr>
        <p:spPr>
          <a:xfrm>
            <a:off x="8204200" y="2292350"/>
            <a:ext cx="30871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CR-01</a:t>
            </a:r>
            <a:endParaRPr lang="en-US" sz="1200" dirty="0"/>
          </a:p>
        </p:txBody>
      </p:sp>
      <p:sp>
        <p:nvSpPr>
          <p:cNvPr id="27" name="Text 22"/>
          <p:cNvSpPr/>
          <p:nvPr/>
        </p:nvSpPr>
        <p:spPr>
          <a:xfrm>
            <a:off x="8204200" y="2556511"/>
            <a:ext cx="308711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5F8"/>
                </a:solidFill>
                <a:latin typeface="Inter SemiBold" pitchFamily="34" charset="0"/>
                <a:ea typeface="Inter SemiBold" pitchFamily="34" charset="-122"/>
                <a:cs typeface="Inter SemiBold" pitchFamily="34" charset="-120"/>
              </a:rPr>
              <a:t>Stitch tự thêm nút Submit Roster</a:t>
            </a:r>
            <a:endParaRPr lang="en-US" sz="1300" dirty="0"/>
          </a:p>
        </p:txBody>
      </p:sp>
      <p:sp>
        <p:nvSpPr>
          <p:cNvPr id="28" name="Text 23"/>
          <p:cNvSpPr/>
          <p:nvPr/>
        </p:nvSpPr>
        <p:spPr>
          <a:xfrm>
            <a:off x="8204200" y="2830196"/>
            <a:ext cx="308711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DD9"/>
                </a:solidFill>
                <a:latin typeface="Inter Medium" pitchFamily="34" charset="0"/>
                <a:ea typeface="Inter Medium" pitchFamily="34" charset="-122"/>
                <a:cs typeface="Inter Medium" pitchFamily="34" charset="-120"/>
              </a:rPr>
              <a:t>→ Cho gửi khi chưa đối chiếu</a:t>
            </a:r>
            <a:endParaRPr lang="en-US" sz="1200" dirty="0"/>
          </a:p>
        </p:txBody>
      </p:sp>
      <p:sp>
        <p:nvSpPr>
          <p:cNvPr id="29" name="Shape 24"/>
          <p:cNvSpPr/>
          <p:nvPr/>
        </p:nvSpPr>
        <p:spPr>
          <a:xfrm>
            <a:off x="8026400" y="3315336"/>
            <a:ext cx="3352800" cy="1048385"/>
          </a:xfrm>
          <a:prstGeom prst="roundRect">
            <a:avLst>
              <a:gd name="adj" fmla="val 9691"/>
            </a:avLst>
          </a:prstGeom>
          <a:solidFill>
            <a:srgbClr val="222A4D"/>
          </a:solidFill>
          <a:ln/>
        </p:spPr>
      </p:sp>
      <p:sp>
        <p:nvSpPr>
          <p:cNvPr id="30" name="Text 25"/>
          <p:cNvSpPr/>
          <p:nvPr/>
        </p:nvSpPr>
        <p:spPr>
          <a:xfrm>
            <a:off x="8204200" y="3467736"/>
            <a:ext cx="30871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D-24</a:t>
            </a:r>
            <a:endParaRPr lang="en-US" sz="1200" dirty="0"/>
          </a:p>
        </p:txBody>
      </p:sp>
      <p:sp>
        <p:nvSpPr>
          <p:cNvPr id="31" name="Text 26"/>
          <p:cNvSpPr/>
          <p:nvPr/>
        </p:nvSpPr>
        <p:spPr>
          <a:xfrm>
            <a:off x="8204200" y="3731896"/>
            <a:ext cx="308711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5F8"/>
                </a:solidFill>
                <a:latin typeface="Inter SemiBold" pitchFamily="34" charset="0"/>
                <a:ea typeface="Inter SemiBold" pitchFamily="34" charset="-122"/>
                <a:cs typeface="Inter SemiBold" pitchFamily="34" charset="-120"/>
              </a:rPr>
              <a:t>Claude: gắn cờ quét ngoài Wi-Fi</a:t>
            </a:r>
            <a:endParaRPr lang="en-US" sz="1300" dirty="0"/>
          </a:p>
        </p:txBody>
      </p:sp>
      <p:sp>
        <p:nvSpPr>
          <p:cNvPr id="32" name="Text 27"/>
          <p:cNvSpPr/>
          <p:nvPr/>
        </p:nvSpPr>
        <p:spPr>
          <a:xfrm>
            <a:off x="8204200" y="4005582"/>
            <a:ext cx="308711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DD9"/>
                </a:solidFill>
                <a:latin typeface="Inter Medium" pitchFamily="34" charset="0"/>
                <a:ea typeface="Inter Medium" pitchFamily="34" charset="-122"/>
                <a:cs typeface="Inter Medium" pitchFamily="34" charset="-120"/>
              </a:rPr>
              <a:t>→ Chặn oan người dùng 4G</a:t>
            </a:r>
            <a:endParaRPr lang="en-US" sz="1200" dirty="0"/>
          </a:p>
        </p:txBody>
      </p:sp>
      <p:sp>
        <p:nvSpPr>
          <p:cNvPr id="33" name="Shape 28"/>
          <p:cNvSpPr/>
          <p:nvPr/>
        </p:nvSpPr>
        <p:spPr>
          <a:xfrm>
            <a:off x="812800" y="4823461"/>
            <a:ext cx="10566400" cy="538480"/>
          </a:xfrm>
          <a:prstGeom prst="roundRect">
            <a:avLst>
              <a:gd name="adj" fmla="val 14151"/>
            </a:avLst>
          </a:prstGeom>
          <a:solidFill>
            <a:srgbClr val="2C3358"/>
          </a:solidFill>
          <a:ln/>
        </p:spPr>
      </p:sp>
      <p:sp>
        <p:nvSpPr>
          <p:cNvPr id="34" name="Text 29"/>
          <p:cNvSpPr/>
          <p:nvPr/>
        </p:nvSpPr>
        <p:spPr>
          <a:xfrm>
            <a:off x="990600" y="4950461"/>
            <a:ext cx="2184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9B3F5"/>
                </a:solidFill>
                <a:latin typeface="Be Vietnam Pro" pitchFamily="34" charset="0"/>
                <a:ea typeface="Be Vietnam Pro" pitchFamily="34" charset="-122"/>
                <a:cs typeface="Be Vietnam Pro" pitchFamily="34" charset="-120"/>
              </a:rPr>
              <a:t>AI gợi ý, người chốt.</a:t>
            </a:r>
            <a:endParaRPr lang="en-US" sz="1600" dirty="0"/>
          </a:p>
        </p:txBody>
      </p:sp>
      <p:sp>
        <p:nvSpPr>
          <p:cNvPr id="35" name="Text 30"/>
          <p:cNvSpPr/>
          <p:nvPr/>
        </p:nvSpPr>
        <p:spPr>
          <a:xfrm>
            <a:off x="3175000" y="4986021"/>
            <a:ext cx="5965222" cy="238760"/>
          </a:xfrm>
          <a:prstGeom prst="rect">
            <a:avLst/>
          </a:prstGeom>
          <a:noFill/>
          <a:ln/>
        </p:spPr>
        <p:txBody>
          <a:bodyPr wrap="square" lIns="0" tIns="0" rIns="0" bIns="0" rtlCol="0" anchor="t">
            <a:normAutofit/>
          </a:bodyPr>
          <a:lstStyle/>
          <a:p>
            <a:pPr algn="l" indent="0" marL="0">
              <a:lnSpc>
                <a:spcPts val="1680"/>
              </a:lnSpc>
              <a:buNone/>
            </a:pPr>
            <a:r>
              <a:rPr lang="en-US" sz="1200" dirty="0" u="sng">
                <a:solidFill>
                  <a:srgbClr val="A9B3F5"/>
                </a:solidFill>
                <a:latin typeface="Inter SemiBold" pitchFamily="34" charset="0"/>
                <a:ea typeface="Inter SemiBold" pitchFamily="34" charset="-122"/>
                <a:cs typeface="Inter SemiBold" pitchFamily="34" charset="-120"/>
                <a:hlinkClick r:id="rId6">
                  <a:extLst>
                    <a:ext uri="{A12FA001-AC4F-418D-AE19-62706E023703}">
                      <ahyp:hlinkClr xmlns:ahyp="http://schemas.microsoft.com/office/drawing/2018/hyperlinkcolor" val="tx"/>
                    </a:ext>
                  </a:extLst>
                </a:hlinkClick>
              </a:rPr>
              <a:t>34 quyết định D-01 tới D-34</a:t>
            </a:r>
            <a:r>
              <a:rPr lang="en-US" sz="1200" dirty="0">
                <a:solidFill>
                  <a:srgbClr val="F5F5F8"/>
                </a:solidFill>
                <a:latin typeface="Inter SemiBold" pitchFamily="34" charset="0"/>
                <a:ea typeface="Inter SemiBold" pitchFamily="34" charset="-122"/>
                <a:cs typeface="Inter SemiBold" pitchFamily="34" charset="-120"/>
              </a:rPr>
              <a:t>, mỗi cái có phương án, lý do, người chốt.</a:t>
            </a:r>
            <a:endParaRPr lang="en-US" sz="1200" dirty="0"/>
          </a:p>
        </p:txBody>
      </p:sp>
      <p:sp>
        <p:nvSpPr>
          <p:cNvPr id="36" name="Text 31"/>
          <p:cNvSpPr/>
          <p:nvPr/>
        </p:nvSpPr>
        <p:spPr>
          <a:xfrm>
            <a:off x="812800" y="6238239"/>
            <a:ext cx="59149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Bằng chứng: </a:t>
            </a:r>
            <a:r>
              <a:rPr lang="en-US" sz="1200" dirty="0" u="sng">
                <a:solidFill>
                  <a:srgbClr val="A9B3F5"/>
                </a:solidFill>
                <a:latin typeface="Inter Medium" pitchFamily="34" charset="0"/>
                <a:ea typeface="Inter Medium" pitchFamily="34" charset="-122"/>
                <a:cs typeface="Inter Medium" pitchFamily="34" charset="-120"/>
                <a:hlinkClick r:id="rId7">
                  <a:extLst>
                    <a:ext uri="{A12FA001-AC4F-418D-AE19-62706E023703}">
                      <ahyp:hlinkClr xmlns:ahyp="http://schemas.microsoft.com/office/drawing/2018/hyperlinkcolor" val="tx"/>
                    </a:ext>
                  </a:extLst>
                </a:hlinkClick>
              </a:rPr>
              <a:t>design/design-decisions.md</a:t>
            </a:r>
            <a:r>
              <a:rPr lang="en-US" sz="1200" dirty="0">
                <a:solidFill>
                  <a:srgbClr val="B8BDD9"/>
                </a:solidFill>
                <a:latin typeface="Inter Medium" pitchFamily="34" charset="0"/>
                <a:ea typeface="Inter Medium" pitchFamily="34" charset="-122"/>
                <a:cs typeface="Inter Medium" pitchFamily="34" charset="-120"/>
              </a:rPr>
              <a:t> · </a:t>
            </a:r>
            <a:r>
              <a:rPr lang="en-US" sz="1200" dirty="0" u="sng">
                <a:solidFill>
                  <a:srgbClr val="A9B3F5"/>
                </a:solidFill>
                <a:latin typeface="Inter Medium" pitchFamily="34" charset="0"/>
                <a:ea typeface="Inter Medium" pitchFamily="34" charset="-122"/>
                <a:cs typeface="Inter Medium" pitchFamily="34" charset="-120"/>
                <a:hlinkClick r:id="rId6">
                  <a:extLst>
                    <a:ext uri="{A12FA001-AC4F-418D-AE19-62706E023703}">
                      <ahyp:hlinkClr xmlns:ahyp="http://schemas.microsoft.com/office/drawing/2018/hyperlinkcolor" val="tx"/>
                    </a:ext>
                  </a:extLst>
                </a:hlinkClick>
              </a:rPr>
              <a:t>process/decision-log.md</a:t>
            </a:r>
            <a:endParaRPr lang="en-US" sz="1200" dirty="0"/>
          </a:p>
        </p:txBody>
      </p:sp>
      <p:sp>
        <p:nvSpPr>
          <p:cNvPr id="37" name="Text 32"/>
          <p:cNvSpPr/>
          <p:nvPr/>
        </p:nvSpPr>
        <p:spPr>
          <a:xfrm>
            <a:off x="10920953" y="6238239"/>
            <a:ext cx="45824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DD9"/>
                </a:solidFill>
                <a:latin typeface="Inter Medium" pitchFamily="34" charset="0"/>
                <a:ea typeface="Inter Medium" pitchFamily="34" charset="-122"/>
                <a:cs typeface="Inter Medium"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Sản phẩm · Wireframe và Final UI</a:t>
            </a:r>
            <a:endParaRPr lang="en-US" sz="1200" dirty="0"/>
          </a:p>
        </p:txBody>
      </p:sp>
      <p:sp>
        <p:nvSpPr>
          <p:cNvPr id="3" name="Text 1"/>
          <p:cNvSpPr/>
          <p:nvPr>
            <p:ph type="title"/>
          </p:nvPr>
        </p:nvSpPr>
        <p:spPr>
          <a:xfrm>
            <a:off x="812800" y="10007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Từ wireframe xám tới màn cuối, đủ trạng thái</a:t>
            </a:r>
            <a:endParaRPr lang="en-US" sz="2600" dirty="0"/>
          </a:p>
        </p:txBody>
      </p:sp>
      <p:sp>
        <p:nvSpPr>
          <p:cNvPr id="4" name="Text 2"/>
          <p:cNvSpPr/>
          <p:nvPr/>
        </p:nvSpPr>
        <p:spPr>
          <a:xfrm>
            <a:off x="1424464" y="1609089"/>
            <a:ext cx="35841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40"/>
                </a:solidFill>
                <a:latin typeface="Inter" pitchFamily="34" charset="0"/>
                <a:ea typeface="Inter" pitchFamily="34" charset="-122"/>
                <a:cs typeface="Inter" pitchFamily="34" charset="-120"/>
              </a:rPr>
              <a:t>Low-fi → Final · SC-03</a:t>
            </a:r>
            <a:endParaRPr lang="en-US" sz="1400" dirty="0"/>
          </a:p>
        </p:txBody>
      </p:sp>
      <p:pic>
        <p:nvPicPr>
          <p:cNvPr id="5" name="Image 0" descr="Wireframe xám của SC-03 trên trang 02">    </p:cNvPr>
          <p:cNvPicPr>
            <a:picLocks noChangeAspect="1"/>
          </p:cNvPicPr>
          <p:nvPr/>
        </p:nvPicPr>
        <p:blipFill>
          <a:blip r:embed="rId1"/>
          <a:srcRect l="236" r="236" t="0" b="0"/>
          <a:stretch/>
        </p:blipFill>
        <p:spPr>
          <a:xfrm>
            <a:off x="1430814" y="1965961"/>
            <a:ext cx="1473200" cy="3289300"/>
          </a:xfrm>
          <a:prstGeom prst="roundRect">
            <a:avLst>
              <a:gd name="adj" fmla="val 7328"/>
            </a:avLst>
          </a:prstGeom>
        </p:spPr>
      </p:pic>
      <p:sp>
        <p:nvSpPr>
          <p:cNvPr id="6" name="Shape 3"/>
          <p:cNvSpPr/>
          <p:nvPr/>
        </p:nvSpPr>
        <p:spPr>
          <a:xfrm>
            <a:off x="1427639" y="1962786"/>
            <a:ext cx="1479550" cy="3295650"/>
          </a:xfrm>
          <a:prstGeom prst="roundRect">
            <a:avLst>
              <a:gd name="adj" fmla="val 7511"/>
            </a:avLst>
          </a:prstGeom>
          <a:noFill/>
          <a:ln w="19050">
            <a:solidFill>
              <a:srgbClr val="C9CCD8"/>
            </a:solidFill>
            <a:prstDash val="solid"/>
          </a:ln>
        </p:spPr>
      </p:sp>
      <p:sp>
        <p:nvSpPr>
          <p:cNvPr id="7" name="Text 4"/>
          <p:cNvSpPr/>
          <p:nvPr/>
        </p:nvSpPr>
        <p:spPr>
          <a:xfrm>
            <a:off x="1424464" y="5325114"/>
            <a:ext cx="153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Trang 02</a:t>
            </a:r>
            <a:endParaRPr lang="en-US" sz="1200" dirty="0"/>
          </a:p>
        </p:txBody>
      </p:sp>
      <p:pic>
        <p:nvPicPr>
          <p:cNvPr id="8" name="Image 1" descr="Play">    </p:cNvPr>
          <p:cNvPicPr>
            <a:picLocks noChangeAspect="1"/>
          </p:cNvPicPr>
          <p:nvPr/>
        </p:nvPicPr>
        <p:blipFill>
          <a:blip r:embed="rId2"/>
          <a:srcRect l="0" r="0" t="0" b="0"/>
          <a:stretch/>
        </p:blipFill>
        <p:spPr>
          <a:xfrm>
            <a:off x="3037364" y="3622039"/>
            <a:ext cx="254000" cy="254000"/>
          </a:xfrm>
          <a:prstGeom prst="rect">
            <a:avLst/>
          </a:prstGeom>
        </p:spPr>
      </p:pic>
      <p:pic>
        <p:nvPicPr>
          <p:cNvPr id="9" name="Image 2" descr="Màn cuối SC-03 trên trang 03">    </p:cNvPr>
          <p:cNvPicPr>
            <a:picLocks noChangeAspect="1"/>
          </p:cNvPicPr>
          <p:nvPr/>
        </p:nvPicPr>
        <p:blipFill>
          <a:blip r:embed="rId3"/>
          <a:srcRect l="236" r="236" t="0" b="0"/>
          <a:stretch/>
        </p:blipFill>
        <p:spPr>
          <a:xfrm>
            <a:off x="3424714" y="1965961"/>
            <a:ext cx="1473200" cy="3289300"/>
          </a:xfrm>
          <a:prstGeom prst="roundRect">
            <a:avLst>
              <a:gd name="adj" fmla="val 7328"/>
            </a:avLst>
          </a:prstGeom>
        </p:spPr>
      </p:pic>
      <p:sp>
        <p:nvSpPr>
          <p:cNvPr id="10" name="Shape 5"/>
          <p:cNvSpPr/>
          <p:nvPr/>
        </p:nvSpPr>
        <p:spPr>
          <a:xfrm>
            <a:off x="3421539" y="1962786"/>
            <a:ext cx="1479550" cy="3295650"/>
          </a:xfrm>
          <a:prstGeom prst="roundRect">
            <a:avLst>
              <a:gd name="adj" fmla="val 7511"/>
            </a:avLst>
          </a:prstGeom>
          <a:noFill/>
          <a:ln w="19050">
            <a:solidFill>
              <a:srgbClr val="C9CCD8"/>
            </a:solidFill>
            <a:prstDash val="solid"/>
          </a:ln>
        </p:spPr>
      </p:sp>
      <p:sp>
        <p:nvSpPr>
          <p:cNvPr id="11" name="Text 6"/>
          <p:cNvSpPr/>
          <p:nvPr/>
        </p:nvSpPr>
        <p:spPr>
          <a:xfrm>
            <a:off x="3418364" y="5325114"/>
            <a:ext cx="153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Trang 03</a:t>
            </a:r>
            <a:endParaRPr lang="en-US" sz="1200" dirty="0"/>
          </a:p>
        </p:txBody>
      </p:sp>
      <p:sp>
        <p:nvSpPr>
          <p:cNvPr id="12" name="Shape 7"/>
          <p:cNvSpPr/>
          <p:nvPr/>
        </p:nvSpPr>
        <p:spPr>
          <a:xfrm>
            <a:off x="5361464" y="1609089"/>
            <a:ext cx="12700" cy="3929380"/>
          </a:xfrm>
          <a:prstGeom prst="rect">
            <a:avLst/>
          </a:prstGeom>
          <a:solidFill>
            <a:srgbClr val="C9CCDB"/>
          </a:solidFill>
          <a:ln/>
        </p:spPr>
      </p:sp>
      <p:sp>
        <p:nvSpPr>
          <p:cNvPr id="13" name="Text 8"/>
          <p:cNvSpPr/>
          <p:nvPr/>
        </p:nvSpPr>
        <p:spPr>
          <a:xfrm>
            <a:off x="5831364" y="1609089"/>
            <a:ext cx="50841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40"/>
                </a:solidFill>
                <a:latin typeface="Inter" pitchFamily="34" charset="0"/>
                <a:ea typeface="Inter" pitchFamily="34" charset="-122"/>
                <a:cs typeface="Inter" pitchFamily="34" charset="-120"/>
              </a:rPr>
              <a:t>Trạng thái tải, trống, lỗi</a:t>
            </a:r>
            <a:endParaRPr lang="en-US" sz="1400" dirty="0"/>
          </a:p>
        </p:txBody>
      </p:sp>
      <p:pic>
        <p:nvPicPr>
          <p:cNvPr id="14" name="Image 3" descr="SC-11 đang xác thực mã">    </p:cNvPr>
          <p:cNvPicPr>
            <a:picLocks noChangeAspect="1"/>
          </p:cNvPicPr>
          <p:nvPr/>
        </p:nvPicPr>
        <p:blipFill>
          <a:blip r:embed="rId4"/>
          <a:srcRect l="236" r="236" t="0" b="0"/>
          <a:stretch/>
        </p:blipFill>
        <p:spPr>
          <a:xfrm>
            <a:off x="5837714" y="1965961"/>
            <a:ext cx="1473200" cy="3289300"/>
          </a:xfrm>
          <a:prstGeom prst="roundRect">
            <a:avLst>
              <a:gd name="adj" fmla="val 7328"/>
            </a:avLst>
          </a:prstGeom>
        </p:spPr>
      </p:pic>
      <p:sp>
        <p:nvSpPr>
          <p:cNvPr id="15" name="Shape 9"/>
          <p:cNvSpPr/>
          <p:nvPr/>
        </p:nvSpPr>
        <p:spPr>
          <a:xfrm>
            <a:off x="5834539" y="1962786"/>
            <a:ext cx="1479550" cy="3295650"/>
          </a:xfrm>
          <a:prstGeom prst="roundRect">
            <a:avLst>
              <a:gd name="adj" fmla="val 7511"/>
            </a:avLst>
          </a:prstGeom>
          <a:noFill/>
          <a:ln w="19050">
            <a:solidFill>
              <a:srgbClr val="C9CCD8"/>
            </a:solidFill>
            <a:prstDash val="solid"/>
          </a:ln>
        </p:spPr>
      </p:sp>
      <p:sp>
        <p:nvSpPr>
          <p:cNvPr id="16" name="Text 10"/>
          <p:cNvSpPr/>
          <p:nvPr/>
        </p:nvSpPr>
        <p:spPr>
          <a:xfrm>
            <a:off x="5831364" y="5325114"/>
            <a:ext cx="153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Đang tải · SC-11</a:t>
            </a:r>
            <a:endParaRPr lang="en-US" sz="1200" dirty="0"/>
          </a:p>
        </p:txBody>
      </p:sp>
      <p:pic>
        <p:nvPicPr>
          <p:cNvPr id="17" name="Image 4" descr="SC-07 không có báo sai nào">    </p:cNvPr>
          <p:cNvPicPr>
            <a:picLocks noChangeAspect="1"/>
          </p:cNvPicPr>
          <p:nvPr/>
        </p:nvPicPr>
        <p:blipFill>
          <a:blip r:embed="rId5"/>
          <a:srcRect l="236" r="236" t="0" b="0"/>
          <a:stretch/>
        </p:blipFill>
        <p:spPr>
          <a:xfrm>
            <a:off x="7476014" y="1965961"/>
            <a:ext cx="1473200" cy="3289300"/>
          </a:xfrm>
          <a:prstGeom prst="roundRect">
            <a:avLst>
              <a:gd name="adj" fmla="val 7328"/>
            </a:avLst>
          </a:prstGeom>
        </p:spPr>
      </p:pic>
      <p:sp>
        <p:nvSpPr>
          <p:cNvPr id="18" name="Shape 11"/>
          <p:cNvSpPr/>
          <p:nvPr/>
        </p:nvSpPr>
        <p:spPr>
          <a:xfrm>
            <a:off x="7472839" y="1962786"/>
            <a:ext cx="1479550" cy="3295650"/>
          </a:xfrm>
          <a:prstGeom prst="roundRect">
            <a:avLst>
              <a:gd name="adj" fmla="val 7511"/>
            </a:avLst>
          </a:prstGeom>
          <a:noFill/>
          <a:ln w="19050">
            <a:solidFill>
              <a:srgbClr val="C9CCD8"/>
            </a:solidFill>
            <a:prstDash val="solid"/>
          </a:ln>
        </p:spPr>
      </p:sp>
      <p:sp>
        <p:nvSpPr>
          <p:cNvPr id="19" name="Text 12"/>
          <p:cNvSpPr/>
          <p:nvPr/>
        </p:nvSpPr>
        <p:spPr>
          <a:xfrm>
            <a:off x="7469664" y="5325114"/>
            <a:ext cx="153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Trống · SC-07</a:t>
            </a:r>
            <a:endParaRPr lang="en-US" sz="1200" dirty="0"/>
          </a:p>
        </p:txBody>
      </p:sp>
      <p:pic>
        <p:nvPicPr>
          <p:cNvPr id="20" name="Image 5" descr="SC-11 mã đã hết hạn, có nút Quét lại">    </p:cNvPr>
          <p:cNvPicPr>
            <a:picLocks noChangeAspect="1"/>
          </p:cNvPicPr>
          <p:nvPr/>
        </p:nvPicPr>
        <p:blipFill>
          <a:blip r:embed="rId6"/>
          <a:srcRect l="236" r="236" t="0" b="0"/>
          <a:stretch/>
        </p:blipFill>
        <p:spPr>
          <a:xfrm>
            <a:off x="9114314" y="1965961"/>
            <a:ext cx="1473200" cy="3289300"/>
          </a:xfrm>
          <a:prstGeom prst="roundRect">
            <a:avLst>
              <a:gd name="adj" fmla="val 7328"/>
            </a:avLst>
          </a:prstGeom>
        </p:spPr>
      </p:pic>
      <p:sp>
        <p:nvSpPr>
          <p:cNvPr id="21" name="Shape 13"/>
          <p:cNvSpPr/>
          <p:nvPr/>
        </p:nvSpPr>
        <p:spPr>
          <a:xfrm>
            <a:off x="9111139" y="1962786"/>
            <a:ext cx="1479550" cy="3295650"/>
          </a:xfrm>
          <a:prstGeom prst="roundRect">
            <a:avLst>
              <a:gd name="adj" fmla="val 7511"/>
            </a:avLst>
          </a:prstGeom>
          <a:noFill/>
          <a:ln w="19050">
            <a:solidFill>
              <a:srgbClr val="C9CCD8"/>
            </a:solidFill>
            <a:prstDash val="solid"/>
          </a:ln>
        </p:spPr>
      </p:sp>
      <p:sp>
        <p:nvSpPr>
          <p:cNvPr id="22" name="Text 14"/>
          <p:cNvSpPr/>
          <p:nvPr/>
        </p:nvSpPr>
        <p:spPr>
          <a:xfrm>
            <a:off x="9107964" y="5325114"/>
            <a:ext cx="1991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Lỗi có đường ra · SC-11</a:t>
            </a:r>
            <a:endParaRPr lang="en-US" sz="1200" dirty="0"/>
          </a:p>
        </p:txBody>
      </p:sp>
      <p:sp>
        <p:nvSpPr>
          <p:cNvPr id="23" name="Text 15"/>
          <p:cNvSpPr/>
          <p:nvPr/>
        </p:nvSpPr>
        <p:spPr>
          <a:xfrm>
            <a:off x="812800" y="6238242"/>
            <a:ext cx="78024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9">
                  <a:extLst>
                    <a:ext uri="{A12FA001-AC4F-418D-AE19-62706E023703}">
                      <ahyp:hlinkClr xmlns:ahyp="http://schemas.microsoft.com/office/drawing/2018/hyperlinkcolor" val="tx"/>
                    </a:ext>
                  </a:extLst>
                </a:hlinkClick>
              </a:rPr>
              <a:t>Figma trang 02</a:t>
            </a:r>
            <a:r>
              <a:rPr lang="en-US" sz="1200" dirty="0">
                <a:solidFill>
                  <a:srgbClr val="6B7085"/>
                </a:solidFill>
                <a:latin typeface="Inter Medium" pitchFamily="34" charset="0"/>
                <a:ea typeface="Inter Medium" pitchFamily="34" charset="-122"/>
                <a:cs typeface="Inter Medium" pitchFamily="34" charset="-120"/>
              </a:rPr>
              <a:t>, </a:t>
            </a:r>
            <a:r>
              <a:rPr lang="en-US" sz="1200" dirty="0" u="sng">
                <a:solidFill>
                  <a:srgbClr val="4254BA"/>
                </a:solidFill>
                <a:latin typeface="Inter Medium" pitchFamily="34" charset="0"/>
                <a:ea typeface="Inter Medium" pitchFamily="34" charset="-122"/>
                <a:cs typeface="Inter Medium" pitchFamily="34" charset="-120"/>
                <a:hlinkClick r:id="rId10">
                  <a:extLst>
                    <a:ext uri="{A12FA001-AC4F-418D-AE19-62706E023703}">
                      <ahyp:hlinkClr xmlns:ahyp="http://schemas.microsoft.com/office/drawing/2018/hyperlinkcolor" val="tx"/>
                    </a:ext>
                  </a:extLst>
                </a:hlinkClick>
              </a:rPr>
              <a:t>03 (69 màn và biến thể 360 × 800)</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11">
                  <a:extLst>
                    <a:ext uri="{A12FA001-AC4F-418D-AE19-62706E023703}">
                      <ahyp:hlinkClr xmlns:ahyp="http://schemas.microsoft.com/office/drawing/2018/hyperlinkcolor" val="tx"/>
                    </a:ext>
                  </a:extLst>
                </a:hlinkClick>
              </a:rPr>
              <a:t>design/screen-spec.md</a:t>
            </a:r>
            <a:endParaRPr lang="en-US" sz="1200" dirty="0"/>
          </a:p>
        </p:txBody>
      </p:sp>
      <p:sp>
        <p:nvSpPr>
          <p:cNvPr id="24" name="Text 16"/>
          <p:cNvSpPr/>
          <p:nvPr/>
        </p:nvSpPr>
        <p:spPr>
          <a:xfrm>
            <a:off x="10911332" y="6238242"/>
            <a:ext cx="46786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Sản phẩm · Design system và component</a:t>
            </a:r>
            <a:endParaRPr lang="en-US" sz="1200" dirty="0"/>
          </a:p>
        </p:txBody>
      </p:sp>
      <p:sp>
        <p:nvSpPr>
          <p:cNvPr id="3" name="Text 1"/>
          <p:cNvSpPr/>
          <p:nvPr>
            <p:ph type="title"/>
          </p:nvPr>
        </p:nvSpPr>
        <p:spPr>
          <a:xfrm>
            <a:off x="812800" y="10007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Một nguồn token cho cả Figma và Flutter</a:t>
            </a:r>
            <a:endParaRPr lang="en-US" sz="2600" dirty="0"/>
          </a:p>
        </p:txBody>
      </p:sp>
      <p:sp>
        <p:nvSpPr>
          <p:cNvPr id="4" name="Shape 2"/>
          <p:cNvSpPr/>
          <p:nvPr/>
        </p:nvSpPr>
        <p:spPr>
          <a:xfrm>
            <a:off x="812800" y="1634492"/>
            <a:ext cx="5715000" cy="3511550"/>
          </a:xfrm>
          <a:prstGeom prst="roundRect">
            <a:avLst>
              <a:gd name="adj" fmla="val 2893"/>
            </a:avLst>
          </a:prstGeom>
          <a:solidFill>
            <a:srgbClr val="FCFCFE"/>
          </a:solidFill>
          <a:ln/>
        </p:spPr>
      </p:sp>
      <p:pic>
        <p:nvPicPr>
          <p:cNvPr id="5" name="Image 0" descr="18 biến màu trên trang 04, mỗi biến có mã hex, công dụng và tỷ lệ tương phản">    </p:cNvPr>
          <p:cNvPicPr>
            <a:picLocks noChangeAspect="1"/>
          </p:cNvPicPr>
          <p:nvPr/>
        </p:nvPicPr>
        <p:blipFill>
          <a:blip r:embed="rId1"/>
          <a:srcRect l="-37" r="-37" t="0" b="0"/>
          <a:stretch/>
        </p:blipFill>
        <p:spPr>
          <a:xfrm>
            <a:off x="968300" y="1732282"/>
            <a:ext cx="5404000" cy="3315970"/>
          </a:xfrm>
          <a:prstGeom prst="roundRect">
            <a:avLst>
              <a:gd name="adj" fmla="val 2722"/>
            </a:avLst>
          </a:prstGeom>
        </p:spPr>
      </p:pic>
      <p:sp>
        <p:nvSpPr>
          <p:cNvPr id="6" name="Shape 3"/>
          <p:cNvSpPr/>
          <p:nvPr/>
        </p:nvSpPr>
        <p:spPr>
          <a:xfrm>
            <a:off x="815975" y="1637667"/>
            <a:ext cx="5708650" cy="3505200"/>
          </a:xfrm>
          <a:prstGeom prst="roundRect">
            <a:avLst>
              <a:gd name="adj" fmla="val 2808"/>
            </a:avLst>
          </a:prstGeom>
          <a:noFill/>
          <a:ln w="19050">
            <a:solidFill>
              <a:srgbClr val="C9CCDB"/>
            </a:solidFill>
            <a:prstDash val="solid"/>
          </a:ln>
        </p:spPr>
      </p:sp>
      <p:sp>
        <p:nvSpPr>
          <p:cNvPr id="7" name="Text 4"/>
          <p:cNvSpPr/>
          <p:nvPr/>
        </p:nvSpPr>
        <p:spPr>
          <a:xfrm>
            <a:off x="812800" y="5222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18 biến màu FAP, làm đậm cho đạt WCAG</a:t>
            </a:r>
            <a:endParaRPr lang="en-US" sz="1200" dirty="0"/>
          </a:p>
        </p:txBody>
      </p:sp>
      <p:sp>
        <p:nvSpPr>
          <p:cNvPr id="8" name="Text 5"/>
          <p:cNvSpPr/>
          <p:nvPr/>
        </p:nvSpPr>
        <p:spPr>
          <a:xfrm>
            <a:off x="6832600" y="1634492"/>
            <a:ext cx="535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7</a:t>
            </a:r>
            <a:r>
              <a:rPr lang="en-US" sz="1200" dirty="0">
                <a:solidFill>
                  <a:srgbClr val="1B2140"/>
                </a:solidFill>
                <a:latin typeface="Inter SemiBold" pitchFamily="34" charset="0"/>
                <a:ea typeface="Inter SemiBold" pitchFamily="34" charset="-122"/>
                <a:cs typeface="Inter SemiBold" pitchFamily="34" charset="-120"/>
              </a:rPr>
              <a:t> text style · </a:t>
            </a:r>
            <a:r>
              <a:rPr lang="en-US" sz="1200" b="1" dirty="0">
                <a:solidFill>
                  <a:srgbClr val="1B2140"/>
                </a:solidFill>
                <a:latin typeface="Inter" pitchFamily="34" charset="0"/>
                <a:ea typeface="Inter" pitchFamily="34" charset="-122"/>
                <a:cs typeface="Inter" pitchFamily="34" charset="-120"/>
              </a:rPr>
              <a:t>4</a:t>
            </a:r>
            <a:r>
              <a:rPr lang="en-US" sz="1200" dirty="0">
                <a:solidFill>
                  <a:srgbClr val="1B2140"/>
                </a:solidFill>
                <a:latin typeface="Inter SemiBold" pitchFamily="34" charset="0"/>
                <a:ea typeface="Inter SemiBold" pitchFamily="34" charset="-122"/>
                <a:cs typeface="Inter SemiBold" pitchFamily="34" charset="-120"/>
              </a:rPr>
              <a:t> độ nổi · </a:t>
            </a:r>
            <a:r>
              <a:rPr lang="en-US" sz="1200" b="1" dirty="0">
                <a:solidFill>
                  <a:srgbClr val="1B2140"/>
                </a:solidFill>
                <a:latin typeface="Inter" pitchFamily="34" charset="0"/>
                <a:ea typeface="Inter" pitchFamily="34" charset="-122"/>
                <a:cs typeface="Inter" pitchFamily="34" charset="-120"/>
              </a:rPr>
              <a:t>15</a:t>
            </a:r>
            <a:r>
              <a:rPr lang="en-US" sz="1200" dirty="0">
                <a:solidFill>
                  <a:srgbClr val="1B2140"/>
                </a:solidFill>
                <a:latin typeface="Inter SemiBold" pitchFamily="34" charset="0"/>
                <a:ea typeface="Inter SemiBold" pitchFamily="34" charset="-122"/>
                <a:cs typeface="Inter SemiBold" pitchFamily="34" charset="-120"/>
              </a:rPr>
              <a:t> component set, đủ 9 loại đề yêu cầu</a:t>
            </a:r>
            <a:endParaRPr lang="en-US" sz="1200" dirty="0"/>
          </a:p>
        </p:txBody>
      </p:sp>
      <p:sp>
        <p:nvSpPr>
          <p:cNvPr id="9" name="Shape 6"/>
          <p:cNvSpPr/>
          <p:nvPr/>
        </p:nvSpPr>
        <p:spPr>
          <a:xfrm>
            <a:off x="6832600" y="1974850"/>
            <a:ext cx="4546600" cy="1187450"/>
          </a:xfrm>
          <a:prstGeom prst="roundRect">
            <a:avLst>
              <a:gd name="adj" fmla="val 6417"/>
            </a:avLst>
          </a:prstGeom>
          <a:solidFill>
            <a:srgbClr val="FCFCFE"/>
          </a:solidFill>
          <a:ln/>
        </p:spPr>
      </p:sp>
      <p:pic>
        <p:nvPicPr>
          <p:cNvPr id="10" name="Image 1" descr="CMP-01 Button: 4 variant nhân 4 trạng thái">    </p:cNvPr>
          <p:cNvPicPr>
            <a:picLocks noChangeAspect="1"/>
          </p:cNvPicPr>
          <p:nvPr/>
        </p:nvPicPr>
        <p:blipFill>
          <a:blip r:embed="rId2"/>
          <a:stretch>
            <a:fillRect/>
          </a:stretch>
        </p:blipFill>
        <p:spPr>
          <a:xfrm>
            <a:off x="6862454" y="1981200"/>
            <a:ext cx="4486892" cy="1174750"/>
          </a:xfrm>
          <a:custGeom>
            <a:avLst/>
            <a:gdLst/>
            <a:ahLst/>
            <a:cxnLst/>
            <a:rect l="l" t="t" r="r" b="b"/>
            <a:pathLst>
              <a:path w="4486892" h="1174750">
                <a:moveTo>
                  <a:pt x="0" y="17591"/>
                </a:moveTo>
                <a:arcTo wR="69850" hR="69850" stAng="13705912" swAng="2494088"/>
                <a:lnTo>
                  <a:pt x="4440546" y="0"/>
                </a:lnTo>
                <a:arcTo wR="69850" hR="69850" stAng="16200000" swAng="2494088"/>
                <a:lnTo>
                  <a:pt x="4486892" y="1157159"/>
                </a:lnTo>
                <a:arcTo wR="69850" hR="69850" stAng="2905912" swAng="2494088"/>
                <a:lnTo>
                  <a:pt x="46346" y="1174750"/>
                </a:lnTo>
                <a:arcTo wR="69850" hR="69850" stAng="5400000" swAng="2494088"/>
                <a:close/>
              </a:path>
            </a:pathLst>
          </a:custGeom>
        </p:spPr>
      </p:pic>
      <p:sp>
        <p:nvSpPr>
          <p:cNvPr id="11" name="Shape 7"/>
          <p:cNvSpPr/>
          <p:nvPr/>
        </p:nvSpPr>
        <p:spPr>
          <a:xfrm>
            <a:off x="6835775" y="1978025"/>
            <a:ext cx="4540250" cy="1181100"/>
          </a:xfrm>
          <a:prstGeom prst="roundRect">
            <a:avLst>
              <a:gd name="adj" fmla="val 6183"/>
            </a:avLst>
          </a:prstGeom>
          <a:noFill/>
          <a:ln w="19050">
            <a:solidFill>
              <a:srgbClr val="C9CCDB"/>
            </a:solidFill>
            <a:prstDash val="solid"/>
          </a:ln>
        </p:spPr>
      </p:sp>
      <p:sp>
        <p:nvSpPr>
          <p:cNvPr id="12" name="Shape 8"/>
          <p:cNvSpPr/>
          <p:nvPr/>
        </p:nvSpPr>
        <p:spPr>
          <a:xfrm>
            <a:off x="6832600" y="3289300"/>
            <a:ext cx="4546600" cy="527050"/>
          </a:xfrm>
          <a:prstGeom prst="roundRect">
            <a:avLst>
              <a:gd name="adj" fmla="val 14458"/>
            </a:avLst>
          </a:prstGeom>
          <a:solidFill>
            <a:srgbClr val="FCFCFE"/>
          </a:solidFill>
          <a:ln/>
        </p:spPr>
      </p:sp>
      <p:pic>
        <p:nvPicPr>
          <p:cNvPr id="13" name="Image 2" descr="CMP-10 Status chip: 13 trạng thái, mỗi chip có chữ và biểu tượng">    </p:cNvPr>
          <p:cNvPicPr>
            <a:picLocks noChangeAspect="1"/>
          </p:cNvPicPr>
          <p:nvPr/>
        </p:nvPicPr>
        <p:blipFill>
          <a:blip r:embed="rId3"/>
          <a:stretch>
            <a:fillRect/>
          </a:stretch>
        </p:blipFill>
        <p:spPr>
          <a:xfrm>
            <a:off x="6895802" y="3295650"/>
            <a:ext cx="4420195" cy="514350"/>
          </a:xfrm>
          <a:custGeom>
            <a:avLst/>
            <a:gdLst/>
            <a:ahLst/>
            <a:cxnLst/>
            <a:rect l="l" t="t" r="r" b="b"/>
            <a:pathLst>
              <a:path w="4420195" h="514350">
                <a:moveTo>
                  <a:pt x="0" y="1220"/>
                </a:moveTo>
                <a:arcTo wR="69850" hR="69850" stAng="15556555" swAng="643445"/>
                <a:lnTo>
                  <a:pt x="4407198" y="0"/>
                </a:lnTo>
                <a:arcTo wR="69850" hR="69850" stAng="16200000" swAng="643445"/>
                <a:lnTo>
                  <a:pt x="4420195" y="513130"/>
                </a:lnTo>
                <a:arcTo wR="69850" hR="69850" stAng="4756555" swAng="643445"/>
                <a:lnTo>
                  <a:pt x="12998" y="514350"/>
                </a:lnTo>
                <a:arcTo wR="69850" hR="69850" stAng="5400000" swAng="643445"/>
                <a:close/>
              </a:path>
            </a:pathLst>
          </a:custGeom>
        </p:spPr>
      </p:pic>
      <p:sp>
        <p:nvSpPr>
          <p:cNvPr id="14" name="Shape 9"/>
          <p:cNvSpPr/>
          <p:nvPr/>
        </p:nvSpPr>
        <p:spPr>
          <a:xfrm>
            <a:off x="6835775" y="3292475"/>
            <a:ext cx="4540250" cy="520700"/>
          </a:xfrm>
          <a:prstGeom prst="roundRect">
            <a:avLst>
              <a:gd name="adj" fmla="val 14024"/>
            </a:avLst>
          </a:prstGeom>
          <a:noFill/>
          <a:ln w="19050">
            <a:solidFill>
              <a:srgbClr val="C9CCDB"/>
            </a:solidFill>
            <a:prstDash val="solid"/>
          </a:ln>
        </p:spPr>
      </p:sp>
      <p:sp>
        <p:nvSpPr>
          <p:cNvPr id="15" name="Text 10"/>
          <p:cNvSpPr/>
          <p:nvPr/>
        </p:nvSpPr>
        <p:spPr>
          <a:xfrm>
            <a:off x="6832600" y="3943350"/>
            <a:ext cx="4546600" cy="629920"/>
          </a:xfrm>
          <a:prstGeom prst="roundRect">
            <a:avLst>
              <a:gd name="adj" fmla="val 12097"/>
            </a:avLst>
          </a:prstGeom>
          <a:solidFill>
            <a:srgbClr val="ECEEF8"/>
          </a:solidFill>
          <a:ln/>
        </p:spPr>
        <p:txBody>
          <a:bodyPr wrap="square" lIns="104682" tIns="79282" rIns="0" bIns="53882" rtlCol="0" anchor="ctr">
            <a:normAutofit/>
          </a:bodyPr>
          <a:lstStyle/>
          <a:p>
            <a:pPr algn="l" indent="0" marL="0">
              <a:buNone/>
            </a:pPr>
            <a:r>
              <a:rPr lang="en-US" sz="1200" dirty="0">
                <a:solidFill>
                  <a:srgbClr val="1B2140"/>
                </a:solidFill>
                <a:latin typeface="Inter SemiBold" pitchFamily="34" charset="0"/>
                <a:ea typeface="Inter SemiBold" pitchFamily="34" charset="-122"/>
                <a:cs typeface="Inter SemiBold" pitchFamily="34" charset="-120"/>
              </a:rPr>
              <a:t>Đổi </a:t>
            </a:r>
            <a:r>
              <a:rPr lang="en-US" sz="1200" b="1" dirty="0">
                <a:solidFill>
                  <a:srgbClr val="1B2140"/>
                </a:solidFill>
                <a:latin typeface="Inter" pitchFamily="34" charset="0"/>
                <a:ea typeface="Inter" pitchFamily="34" charset="-122"/>
                <a:cs typeface="Inter" pitchFamily="34" charset="-120"/>
              </a:rPr>
              <a:t>color/primary</a:t>
            </a:r>
            <a:r>
              <a:rPr lang="en-US" sz="1200" dirty="0">
                <a:solidFill>
                  <a:srgbClr val="1B2140"/>
                </a:solidFill>
                <a:latin typeface="Inter SemiBold" pitchFamily="34" charset="0"/>
                <a:ea typeface="Inter SemiBold" pitchFamily="34" charset="-122"/>
                <a:cs typeface="Inter SemiBold" pitchFamily="34" charset="-120"/>
              </a:rPr>
              <a:t> một lần → cả 72 frame đổi theo.</a:t>
            </a:r>
            <a:endParaRPr lang="en-US" sz="1200" dirty="0"/>
          </a:p>
        </p:txBody>
      </p:sp>
      <p:sp>
        <p:nvSpPr>
          <p:cNvPr id="16" name="Text 11"/>
          <p:cNvSpPr/>
          <p:nvPr/>
        </p:nvSpPr>
        <p:spPr>
          <a:xfrm>
            <a:off x="812800" y="6238242"/>
            <a:ext cx="75985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6">
                  <a:extLst>
                    <a:ext uri="{A12FA001-AC4F-418D-AE19-62706E023703}">
                      <ahyp:hlinkClr xmlns:ahyp="http://schemas.microsoft.com/office/drawing/2018/hyperlinkcolor" val="tx"/>
                    </a:ext>
                  </a:extLst>
                </a:hlinkClick>
              </a:rPr>
              <a:t>Figma trang 04</a:t>
            </a:r>
            <a:r>
              <a:rPr lang="en-US" sz="1200" dirty="0">
                <a:solidFill>
                  <a:srgbClr val="6B7085"/>
                </a:solidFill>
                <a:latin typeface="Inter Medium" pitchFamily="34" charset="0"/>
                <a:ea typeface="Inter Medium" pitchFamily="34" charset="-122"/>
                <a:cs typeface="Inter Medium" pitchFamily="34" charset="-120"/>
              </a:rPr>
              <a:t>, </a:t>
            </a:r>
            <a:r>
              <a:rPr lang="en-US" sz="1200" dirty="0" u="sng">
                <a:solidFill>
                  <a:srgbClr val="4254BA"/>
                </a:solidFill>
                <a:latin typeface="Inter Medium" pitchFamily="34" charset="0"/>
                <a:ea typeface="Inter Medium" pitchFamily="34" charset="-122"/>
                <a:cs typeface="Inter Medium" pitchFamily="34" charset="-120"/>
                <a:hlinkClick r:id="rId7">
                  <a:extLst>
                    <a:ext uri="{A12FA001-AC4F-418D-AE19-62706E023703}">
                      <ahyp:hlinkClr xmlns:ahyp="http://schemas.microsoft.com/office/drawing/2018/hyperlinkcolor" val="tx"/>
                    </a:ext>
                  </a:extLst>
                </a:hlinkClick>
              </a:rPr>
              <a:t>05</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8">
                  <a:extLst>
                    <a:ext uri="{A12FA001-AC4F-418D-AE19-62706E023703}">
                      <ahyp:hlinkClr xmlns:ahyp="http://schemas.microsoft.com/office/drawing/2018/hyperlinkcolor" val="tx"/>
                    </a:ext>
                  </a:extLst>
                </a:hlinkClick>
              </a:rPr>
              <a:t>design/DESIGN.md</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9">
                  <a:extLst>
                    <a:ext uri="{A12FA001-AC4F-418D-AE19-62706E023703}">
                      <ahyp:hlinkClr xmlns:ahyp="http://schemas.microsoft.com/office/drawing/2018/hyperlinkcolor" val="tx"/>
                    </a:ext>
                  </a:extLst>
                </a:hlinkClick>
              </a:rPr>
              <a:t>handoff/flutter-handoff.md mục 1</a:t>
            </a:r>
            <a:endParaRPr lang="en-US" sz="1200" dirty="0"/>
          </a:p>
        </p:txBody>
      </p:sp>
      <p:sp>
        <p:nvSpPr>
          <p:cNvPr id="17" name="Text 12"/>
          <p:cNvSpPr/>
          <p:nvPr/>
        </p:nvSpPr>
        <p:spPr>
          <a:xfrm>
            <a:off x="10911046" y="6238242"/>
            <a:ext cx="46815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Sản phẩm · Accessibility và responsive</a:t>
            </a:r>
            <a:endParaRPr lang="en-US" sz="1200" dirty="0"/>
          </a:p>
        </p:txBody>
      </p:sp>
      <p:sp>
        <p:nvSpPr>
          <p:cNvPr id="3" name="Text 1"/>
          <p:cNvSpPr/>
          <p:nvPr>
            <p:ph type="title"/>
          </p:nvPr>
        </p:nvSpPr>
        <p:spPr>
          <a:xfrm>
            <a:off x="812800" y="10007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Đo bằng script, không ước lượng bằng mắt</a:t>
            </a:r>
            <a:endParaRPr lang="en-US" sz="2600" dirty="0"/>
          </a:p>
        </p:txBody>
      </p:sp>
      <p:sp>
        <p:nvSpPr>
          <p:cNvPr id="4" name="Shape 2"/>
          <p:cNvSpPr/>
          <p:nvPr/>
        </p:nvSpPr>
        <p:spPr>
          <a:xfrm>
            <a:off x="815975" y="1637667"/>
            <a:ext cx="3092450" cy="1339850"/>
          </a:xfrm>
          <a:prstGeom prst="roundRect">
            <a:avLst>
              <a:gd name="adj" fmla="val 7346"/>
            </a:avLst>
          </a:prstGeom>
          <a:solidFill>
            <a:srgbClr val="FCFCFE"/>
          </a:solidFill>
          <a:ln w="19050">
            <a:solidFill>
              <a:srgbClr val="C9CCDB"/>
            </a:solidFill>
            <a:prstDash val="solid"/>
          </a:ln>
        </p:spPr>
      </p:sp>
      <p:sp>
        <p:nvSpPr>
          <p:cNvPr id="5" name="Text 3"/>
          <p:cNvSpPr/>
          <p:nvPr/>
        </p:nvSpPr>
        <p:spPr>
          <a:xfrm>
            <a:off x="995680" y="1817371"/>
            <a:ext cx="281503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4254BA"/>
                </a:solidFill>
                <a:latin typeface="Be Vietnam Pro" pitchFamily="34" charset="0"/>
                <a:ea typeface="Be Vietnam Pro" pitchFamily="34" charset="-122"/>
                <a:cs typeface="Be Vietnam Pro" pitchFamily="34" charset="-120"/>
              </a:rPr>
              <a:t>5,24:1</a:t>
            </a:r>
            <a:endParaRPr lang="en-US" sz="3600" dirty="0"/>
          </a:p>
        </p:txBody>
      </p:sp>
      <p:sp>
        <p:nvSpPr>
          <p:cNvPr id="6" name="Text 4"/>
          <p:cNvSpPr/>
          <p:nvPr/>
        </p:nvSpPr>
        <p:spPr>
          <a:xfrm>
            <a:off x="995680" y="2371092"/>
            <a:ext cx="2815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Tương phản chữ thấp nhất · ngưỡng 4,5:1</a:t>
            </a:r>
            <a:endParaRPr lang="en-US" sz="1200" dirty="0"/>
          </a:p>
        </p:txBody>
      </p:sp>
      <p:sp>
        <p:nvSpPr>
          <p:cNvPr id="7" name="Shape 5"/>
          <p:cNvSpPr/>
          <p:nvPr/>
        </p:nvSpPr>
        <p:spPr>
          <a:xfrm>
            <a:off x="4067175" y="1637667"/>
            <a:ext cx="3092450" cy="1339850"/>
          </a:xfrm>
          <a:prstGeom prst="roundRect">
            <a:avLst>
              <a:gd name="adj" fmla="val 7346"/>
            </a:avLst>
          </a:prstGeom>
          <a:solidFill>
            <a:srgbClr val="FCFCFE"/>
          </a:solidFill>
          <a:ln w="19050">
            <a:solidFill>
              <a:srgbClr val="C9CCDB"/>
            </a:solidFill>
            <a:prstDash val="solid"/>
          </a:ln>
        </p:spPr>
      </p:sp>
      <p:sp>
        <p:nvSpPr>
          <p:cNvPr id="8" name="Text 6"/>
          <p:cNvSpPr/>
          <p:nvPr/>
        </p:nvSpPr>
        <p:spPr>
          <a:xfrm>
            <a:off x="4246880" y="1817371"/>
            <a:ext cx="281503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4254BA"/>
                </a:solidFill>
                <a:latin typeface="Be Vietnam Pro" pitchFamily="34" charset="0"/>
                <a:ea typeface="Be Vietnam Pro" pitchFamily="34" charset="-122"/>
                <a:cs typeface="Be Vietnam Pro" pitchFamily="34" charset="-120"/>
              </a:rPr>
              <a:t>4,16:1</a:t>
            </a:r>
            <a:endParaRPr lang="en-US" sz="3600" dirty="0"/>
          </a:p>
        </p:txBody>
      </p:sp>
      <p:sp>
        <p:nvSpPr>
          <p:cNvPr id="9" name="Text 7"/>
          <p:cNvSpPr/>
          <p:nvPr/>
        </p:nvSpPr>
        <p:spPr>
          <a:xfrm>
            <a:off x="4246880" y="2371092"/>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Viền ô nhập, nút phụ · ngưỡng 3:1</a:t>
            </a:r>
            <a:endParaRPr lang="en-US" sz="1200" dirty="0"/>
          </a:p>
        </p:txBody>
      </p:sp>
      <p:sp>
        <p:nvSpPr>
          <p:cNvPr id="10" name="Shape 8"/>
          <p:cNvSpPr/>
          <p:nvPr/>
        </p:nvSpPr>
        <p:spPr>
          <a:xfrm>
            <a:off x="815975" y="3136267"/>
            <a:ext cx="3092450" cy="1126490"/>
          </a:xfrm>
          <a:prstGeom prst="roundRect">
            <a:avLst>
              <a:gd name="adj" fmla="val 8737"/>
            </a:avLst>
          </a:prstGeom>
          <a:solidFill>
            <a:srgbClr val="FCFCFE"/>
          </a:solidFill>
          <a:ln w="19050">
            <a:solidFill>
              <a:srgbClr val="C9CCDB"/>
            </a:solidFill>
            <a:prstDash val="solid"/>
          </a:ln>
        </p:spPr>
      </p:sp>
      <p:sp>
        <p:nvSpPr>
          <p:cNvPr id="11" name="Text 9"/>
          <p:cNvSpPr/>
          <p:nvPr/>
        </p:nvSpPr>
        <p:spPr>
          <a:xfrm>
            <a:off x="995680" y="3315971"/>
            <a:ext cx="281503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4254BA"/>
                </a:solidFill>
                <a:latin typeface="Be Vietnam Pro" pitchFamily="34" charset="0"/>
                <a:ea typeface="Be Vietnam Pro" pitchFamily="34" charset="-122"/>
                <a:cs typeface="Be Vietnam Pro" pitchFamily="34" charset="-120"/>
              </a:rPr>
              <a:t>48 dp</a:t>
            </a:r>
            <a:endParaRPr lang="en-US" sz="3600" dirty="0"/>
          </a:p>
        </p:txBody>
      </p:sp>
      <p:sp>
        <p:nvSpPr>
          <p:cNvPr id="12" name="Text 10"/>
          <p:cNvSpPr/>
          <p:nvPr/>
        </p:nvSpPr>
        <p:spPr>
          <a:xfrm>
            <a:off x="995680" y="3869692"/>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Mọi vùng bấm (146 vùng)</a:t>
            </a:r>
            <a:endParaRPr lang="en-US" sz="1200" dirty="0"/>
          </a:p>
        </p:txBody>
      </p:sp>
      <p:sp>
        <p:nvSpPr>
          <p:cNvPr id="13" name="Shape 11"/>
          <p:cNvSpPr/>
          <p:nvPr/>
        </p:nvSpPr>
        <p:spPr>
          <a:xfrm>
            <a:off x="4067175" y="3136267"/>
            <a:ext cx="3092450" cy="1126490"/>
          </a:xfrm>
          <a:prstGeom prst="roundRect">
            <a:avLst>
              <a:gd name="adj" fmla="val 8737"/>
            </a:avLst>
          </a:prstGeom>
          <a:solidFill>
            <a:srgbClr val="FCFCFE"/>
          </a:solidFill>
          <a:ln w="19050">
            <a:solidFill>
              <a:srgbClr val="C9CCDB"/>
            </a:solidFill>
            <a:prstDash val="solid"/>
          </a:ln>
        </p:spPr>
      </p:sp>
      <p:sp>
        <p:nvSpPr>
          <p:cNvPr id="14" name="Text 12"/>
          <p:cNvSpPr/>
          <p:nvPr/>
        </p:nvSpPr>
        <p:spPr>
          <a:xfrm>
            <a:off x="4246880" y="3315971"/>
            <a:ext cx="281503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4254BA"/>
                </a:solidFill>
                <a:latin typeface="Be Vietnam Pro" pitchFamily="34" charset="0"/>
                <a:ea typeface="Be Vietnam Pro" pitchFamily="34" charset="-122"/>
                <a:cs typeface="Be Vietnam Pro" pitchFamily="34" charset="-120"/>
              </a:rPr>
              <a:t>14 sp</a:t>
            </a:r>
            <a:endParaRPr lang="en-US" sz="3600" dirty="0"/>
          </a:p>
        </p:txBody>
      </p:sp>
      <p:sp>
        <p:nvSpPr>
          <p:cNvPr id="15" name="Text 13"/>
          <p:cNvSpPr/>
          <p:nvPr/>
        </p:nvSpPr>
        <p:spPr>
          <a:xfrm>
            <a:off x="4246880" y="3869692"/>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Cỡ chữ nhỏ nhất</a:t>
            </a:r>
            <a:endParaRPr lang="en-US" sz="1200" dirty="0"/>
          </a:p>
        </p:txBody>
      </p:sp>
      <p:sp>
        <p:nvSpPr>
          <p:cNvPr id="16" name="Text 14"/>
          <p:cNvSpPr/>
          <p:nvPr/>
        </p:nvSpPr>
        <p:spPr>
          <a:xfrm>
            <a:off x="812800" y="441832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Màu không nói một mình: chip luôn kèm chữ và biểu tượng.</a:t>
            </a:r>
            <a:endParaRPr lang="en-US" sz="1200" dirty="0"/>
          </a:p>
        </p:txBody>
      </p:sp>
      <p:pic>
        <p:nvPicPr>
          <p:cNvPr id="17" name="Image 0" descr="SC-06 ở 360 × 800">    </p:cNvPr>
          <p:cNvPicPr>
            <a:picLocks noChangeAspect="1"/>
          </p:cNvPicPr>
          <p:nvPr/>
        </p:nvPicPr>
        <p:blipFill>
          <a:blip r:embed="rId1"/>
          <a:srcRect l="256" r="256" t="0" b="0"/>
          <a:stretch/>
        </p:blipFill>
        <p:spPr>
          <a:xfrm>
            <a:off x="7524750" y="2078992"/>
            <a:ext cx="1358900" cy="3035300"/>
          </a:xfrm>
          <a:prstGeom prst="roundRect">
            <a:avLst>
              <a:gd name="adj" fmla="val 7009"/>
            </a:avLst>
          </a:prstGeom>
        </p:spPr>
      </p:pic>
      <p:sp>
        <p:nvSpPr>
          <p:cNvPr id="18" name="Shape 15"/>
          <p:cNvSpPr/>
          <p:nvPr/>
        </p:nvSpPr>
        <p:spPr>
          <a:xfrm>
            <a:off x="7521575" y="2075817"/>
            <a:ext cx="1365250" cy="3041650"/>
          </a:xfrm>
          <a:prstGeom prst="roundRect">
            <a:avLst>
              <a:gd name="adj" fmla="val 7209"/>
            </a:avLst>
          </a:prstGeom>
          <a:noFill/>
          <a:ln w="19050">
            <a:solidFill>
              <a:srgbClr val="C9CCD8"/>
            </a:solidFill>
            <a:prstDash val="solid"/>
          </a:ln>
        </p:spPr>
      </p:sp>
      <p:sp>
        <p:nvSpPr>
          <p:cNvPr id="19" name="Text 16"/>
          <p:cNvSpPr/>
          <p:nvPr/>
        </p:nvSpPr>
        <p:spPr>
          <a:xfrm>
            <a:off x="7518400" y="5184142"/>
            <a:ext cx="142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360 dp</a:t>
            </a:r>
            <a:endParaRPr lang="en-US" sz="1200" dirty="0"/>
          </a:p>
        </p:txBody>
      </p:sp>
      <p:pic>
        <p:nvPicPr>
          <p:cNvPr id="20" name="Image 1" descr="SC-06 ở 412 × 915: chữ không bị cắt, nút giữ 48 dp">    </p:cNvPr>
          <p:cNvPicPr>
            <a:picLocks noChangeAspect="1"/>
          </p:cNvPicPr>
          <p:nvPr/>
        </p:nvPicPr>
        <p:blipFill>
          <a:blip r:embed="rId2"/>
          <a:srcRect l="264" r="264" t="0" b="0"/>
          <a:stretch/>
        </p:blipFill>
        <p:spPr>
          <a:xfrm>
            <a:off x="9074150" y="1640842"/>
            <a:ext cx="1555750" cy="3473450"/>
          </a:xfrm>
          <a:prstGeom prst="roundRect">
            <a:avLst>
              <a:gd name="adj" fmla="val 6122"/>
            </a:avLst>
          </a:prstGeom>
        </p:spPr>
      </p:pic>
      <p:sp>
        <p:nvSpPr>
          <p:cNvPr id="21" name="Shape 17"/>
          <p:cNvSpPr/>
          <p:nvPr/>
        </p:nvSpPr>
        <p:spPr>
          <a:xfrm>
            <a:off x="9070975" y="1637667"/>
            <a:ext cx="1562100" cy="3479800"/>
          </a:xfrm>
          <a:prstGeom prst="roundRect">
            <a:avLst>
              <a:gd name="adj" fmla="val 6301"/>
            </a:avLst>
          </a:prstGeom>
          <a:noFill/>
          <a:ln w="19050">
            <a:solidFill>
              <a:srgbClr val="C9CCD8"/>
            </a:solidFill>
            <a:prstDash val="solid"/>
          </a:ln>
        </p:spPr>
      </p:sp>
      <p:sp>
        <p:nvSpPr>
          <p:cNvPr id="22" name="Text 18"/>
          <p:cNvSpPr/>
          <p:nvPr/>
        </p:nvSpPr>
        <p:spPr>
          <a:xfrm>
            <a:off x="9067800" y="5184142"/>
            <a:ext cx="16192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412 dp</a:t>
            </a:r>
            <a:endParaRPr lang="en-US" sz="1200" dirty="0"/>
          </a:p>
        </p:txBody>
      </p:sp>
      <p:sp>
        <p:nvSpPr>
          <p:cNvPr id="23" name="Text 19"/>
          <p:cNvSpPr/>
          <p:nvPr/>
        </p:nvSpPr>
        <p:spPr>
          <a:xfrm>
            <a:off x="812800" y="6238242"/>
            <a:ext cx="72750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5">
                  <a:extLst>
                    <a:ext uri="{A12FA001-AC4F-418D-AE19-62706E023703}">
                      <ahyp:hlinkClr xmlns:ahyp="http://schemas.microsoft.com/office/drawing/2018/hyperlinkcolor" val="tx"/>
                    </a:ext>
                  </a:extLst>
                </a:hlinkClick>
              </a:rPr>
              <a:t>design/design-decisions.md mục 2</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6">
                  <a:extLst>
                    <a:ext uri="{A12FA001-AC4F-418D-AE19-62706E023703}">
                      <ahyp:hlinkClr xmlns:ahyp="http://schemas.microsoft.com/office/drawing/2018/hyperlinkcolor" val="tx"/>
                    </a:ext>
                  </a:extLst>
                </a:hlinkClick>
              </a:rPr>
              <a:t>Figma trang 03, hàng kiểm 412 dp</a:t>
            </a:r>
            <a:endParaRPr lang="en-US" sz="1200" dirty="0"/>
          </a:p>
        </p:txBody>
      </p:sp>
      <p:sp>
        <p:nvSpPr>
          <p:cNvPr id="24" name="Text 20"/>
          <p:cNvSpPr/>
          <p:nvPr/>
        </p:nvSpPr>
        <p:spPr>
          <a:xfrm>
            <a:off x="10834751" y="6238242"/>
            <a:ext cx="54444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Sản phẩm · Prototype tương tác</a:t>
            </a:r>
            <a:endParaRPr lang="en-US" sz="1200" dirty="0"/>
          </a:p>
        </p:txBody>
      </p:sp>
      <p:sp>
        <p:nvSpPr>
          <p:cNvPr id="3" name="Text 1"/>
          <p:cNvSpPr/>
          <p:nvPr>
            <p:ph type="title"/>
          </p:nvPr>
        </p:nvSpPr>
        <p:spPr>
          <a:xfrm>
            <a:off x="812800" y="10007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Prototype chạy hết 3 flow, không ngõ cụt</a:t>
            </a:r>
            <a:endParaRPr lang="en-US" sz="2600" dirty="0"/>
          </a:p>
        </p:txBody>
      </p:sp>
      <p:pic>
        <p:nvPicPr>
          <p:cNvPr id="4" name="Image 0" descr="Bước 1 của kịch bản demo: Đăng nhập, FL-1 · lịch dạy">    </p:cNvPr>
          <p:cNvPicPr>
            <a:picLocks noChangeAspect="1"/>
          </p:cNvPicPr>
          <p:nvPr/>
        </p:nvPicPr>
        <p:blipFill>
          <a:blip r:embed="rId1"/>
          <a:srcRect l="355" r="355" t="0" b="0"/>
          <a:stretch/>
        </p:blipFill>
        <p:spPr>
          <a:xfrm>
            <a:off x="1771650" y="1615442"/>
            <a:ext cx="1333500" cy="2984500"/>
          </a:xfrm>
          <a:prstGeom prst="roundRect">
            <a:avLst>
              <a:gd name="adj" fmla="val 8095"/>
            </a:avLst>
          </a:prstGeom>
        </p:spPr>
      </p:pic>
      <p:sp>
        <p:nvSpPr>
          <p:cNvPr id="5" name="Shape 2"/>
          <p:cNvSpPr/>
          <p:nvPr/>
        </p:nvSpPr>
        <p:spPr>
          <a:xfrm>
            <a:off x="1768475" y="1612267"/>
            <a:ext cx="1339850" cy="2990850"/>
          </a:xfrm>
          <a:prstGeom prst="roundRect">
            <a:avLst>
              <a:gd name="adj" fmla="val 8294"/>
            </a:avLst>
          </a:prstGeom>
          <a:noFill/>
          <a:ln w="19050">
            <a:solidFill>
              <a:srgbClr val="C9CCD8"/>
            </a:solidFill>
            <a:prstDash val="solid"/>
          </a:ln>
        </p:spPr>
      </p:sp>
      <p:sp>
        <p:nvSpPr>
          <p:cNvPr id="6" name="Text 3"/>
          <p:cNvSpPr/>
          <p:nvPr/>
        </p:nvSpPr>
        <p:spPr>
          <a:xfrm>
            <a:off x="1765300" y="469519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4254BA"/>
          </a:solidFill>
          <a:ln/>
        </p:spPr>
        <p:txBody>
          <a:bodyPr wrap="square" lIns="0" tIns="0" rIns="0" bIns="0" rtlCol="0" anchor="ctr">
            <a:normAutofit/>
          </a:bodyPr>
          <a:lstStyle/>
          <a:p>
            <a:pPr algn="ctr" indent="0" marL="0">
              <a:buNone/>
            </a:pPr>
            <a:r>
              <a:rPr lang="en-US" sz="1200" b="1" dirty="0">
                <a:solidFill>
                  <a:srgbClr val="FCFCFE"/>
                </a:solidFill>
                <a:latin typeface="Be Vietnam Pro" pitchFamily="34" charset="0"/>
                <a:ea typeface="Be Vietnam Pro" pitchFamily="34" charset="-122"/>
                <a:cs typeface="Be Vietnam Pro" pitchFamily="34" charset="-120"/>
              </a:rPr>
              <a:t>1</a:t>
            </a:r>
            <a:endParaRPr lang="en-US" sz="1200" dirty="0"/>
          </a:p>
        </p:txBody>
      </p:sp>
      <p:sp>
        <p:nvSpPr>
          <p:cNvPr id="7" name="Text 4"/>
          <p:cNvSpPr/>
          <p:nvPr/>
        </p:nvSpPr>
        <p:spPr>
          <a:xfrm>
            <a:off x="2095500" y="4695192"/>
            <a:ext cx="1219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Đăng nhập</a:t>
            </a:r>
            <a:endParaRPr lang="en-US" sz="1200" dirty="0"/>
          </a:p>
        </p:txBody>
      </p:sp>
      <p:sp>
        <p:nvSpPr>
          <p:cNvPr id="8" name="Text 5"/>
          <p:cNvSpPr/>
          <p:nvPr/>
        </p:nvSpPr>
        <p:spPr>
          <a:xfrm>
            <a:off x="2095500" y="4921250"/>
            <a:ext cx="1219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FL-1 · lịch dạy</a:t>
            </a:r>
            <a:endParaRPr lang="en-US" sz="1200" dirty="0"/>
          </a:p>
        </p:txBody>
      </p:sp>
      <p:pic>
        <p:nvPicPr>
          <p:cNvPr id="9" name="Image 1" descr="Bước 2 của kịch bản demo: Đóng QR, FL-1 · dialog">    </p:cNvPr>
          <p:cNvPicPr>
            <a:picLocks noChangeAspect="1"/>
          </p:cNvPicPr>
          <p:nvPr/>
        </p:nvPicPr>
        <p:blipFill>
          <a:blip r:embed="rId2"/>
          <a:srcRect l="355" r="355" t="0" b="0"/>
          <a:stretch/>
        </p:blipFill>
        <p:spPr>
          <a:xfrm>
            <a:off x="3562350" y="1615442"/>
            <a:ext cx="1333500" cy="2984500"/>
          </a:xfrm>
          <a:prstGeom prst="roundRect">
            <a:avLst>
              <a:gd name="adj" fmla="val 8095"/>
            </a:avLst>
          </a:prstGeom>
        </p:spPr>
      </p:pic>
      <p:sp>
        <p:nvSpPr>
          <p:cNvPr id="10" name="Shape 6"/>
          <p:cNvSpPr/>
          <p:nvPr/>
        </p:nvSpPr>
        <p:spPr>
          <a:xfrm>
            <a:off x="3559175" y="1612267"/>
            <a:ext cx="1339850" cy="2990850"/>
          </a:xfrm>
          <a:prstGeom prst="roundRect">
            <a:avLst>
              <a:gd name="adj" fmla="val 8294"/>
            </a:avLst>
          </a:prstGeom>
          <a:noFill/>
          <a:ln w="19050">
            <a:solidFill>
              <a:srgbClr val="C9CCD8"/>
            </a:solidFill>
            <a:prstDash val="solid"/>
          </a:ln>
        </p:spPr>
      </p:sp>
      <p:sp>
        <p:nvSpPr>
          <p:cNvPr id="11" name="Text 7"/>
          <p:cNvSpPr/>
          <p:nvPr/>
        </p:nvSpPr>
        <p:spPr>
          <a:xfrm>
            <a:off x="3556000" y="469519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4254BA"/>
          </a:solidFill>
          <a:ln/>
        </p:spPr>
        <p:txBody>
          <a:bodyPr wrap="square" lIns="0" tIns="0" rIns="0" bIns="0" rtlCol="0" anchor="ctr">
            <a:normAutofit/>
          </a:bodyPr>
          <a:lstStyle/>
          <a:p>
            <a:pPr algn="ctr" indent="0" marL="0">
              <a:buNone/>
            </a:pPr>
            <a:r>
              <a:rPr lang="en-US" sz="1200" b="1" dirty="0">
                <a:solidFill>
                  <a:srgbClr val="FCFCFE"/>
                </a:solidFill>
                <a:latin typeface="Be Vietnam Pro" pitchFamily="34" charset="0"/>
                <a:ea typeface="Be Vietnam Pro" pitchFamily="34" charset="-122"/>
                <a:cs typeface="Be Vietnam Pro" pitchFamily="34" charset="-120"/>
              </a:rPr>
              <a:t>2</a:t>
            </a:r>
            <a:endParaRPr lang="en-US" sz="1200" dirty="0"/>
          </a:p>
        </p:txBody>
      </p:sp>
      <p:sp>
        <p:nvSpPr>
          <p:cNvPr id="12" name="Text 8"/>
          <p:cNvSpPr/>
          <p:nvPr/>
        </p:nvSpPr>
        <p:spPr>
          <a:xfrm>
            <a:off x="3886200" y="4695192"/>
            <a:ext cx="1219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Đóng QR</a:t>
            </a:r>
            <a:endParaRPr lang="en-US" sz="1200" dirty="0"/>
          </a:p>
        </p:txBody>
      </p:sp>
      <p:sp>
        <p:nvSpPr>
          <p:cNvPr id="13" name="Text 9"/>
          <p:cNvSpPr/>
          <p:nvPr/>
        </p:nvSpPr>
        <p:spPr>
          <a:xfrm>
            <a:off x="3886200" y="4921250"/>
            <a:ext cx="1219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FL-1 · dialog</a:t>
            </a:r>
            <a:endParaRPr lang="en-US" sz="1200" dirty="0"/>
          </a:p>
        </p:txBody>
      </p:sp>
      <p:pic>
        <p:nvPicPr>
          <p:cNvPr id="14" name="Image 2" descr="Bước 3 của kịch bản demo: Đối chiếu, FL-1 · số lệch">    </p:cNvPr>
          <p:cNvPicPr>
            <a:picLocks noChangeAspect="1"/>
          </p:cNvPicPr>
          <p:nvPr/>
        </p:nvPicPr>
        <p:blipFill>
          <a:blip r:embed="rId3"/>
          <a:srcRect l="355" r="355" t="0" b="0"/>
          <a:stretch/>
        </p:blipFill>
        <p:spPr>
          <a:xfrm>
            <a:off x="5353050" y="1615442"/>
            <a:ext cx="1333500" cy="2984500"/>
          </a:xfrm>
          <a:prstGeom prst="roundRect">
            <a:avLst>
              <a:gd name="adj" fmla="val 8095"/>
            </a:avLst>
          </a:prstGeom>
        </p:spPr>
      </p:pic>
      <p:sp>
        <p:nvSpPr>
          <p:cNvPr id="15" name="Shape 10"/>
          <p:cNvSpPr/>
          <p:nvPr/>
        </p:nvSpPr>
        <p:spPr>
          <a:xfrm>
            <a:off x="5349875" y="1612267"/>
            <a:ext cx="1339850" cy="2990850"/>
          </a:xfrm>
          <a:prstGeom prst="roundRect">
            <a:avLst>
              <a:gd name="adj" fmla="val 8294"/>
            </a:avLst>
          </a:prstGeom>
          <a:noFill/>
          <a:ln w="19050">
            <a:solidFill>
              <a:srgbClr val="C9CCD8"/>
            </a:solidFill>
            <a:prstDash val="solid"/>
          </a:ln>
        </p:spPr>
      </p:sp>
      <p:sp>
        <p:nvSpPr>
          <p:cNvPr id="16" name="Text 11"/>
          <p:cNvSpPr/>
          <p:nvPr/>
        </p:nvSpPr>
        <p:spPr>
          <a:xfrm>
            <a:off x="5346700" y="469519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4254BA"/>
          </a:solidFill>
          <a:ln/>
        </p:spPr>
        <p:txBody>
          <a:bodyPr wrap="square" lIns="0" tIns="0" rIns="0" bIns="0" rtlCol="0" anchor="ctr">
            <a:normAutofit/>
          </a:bodyPr>
          <a:lstStyle/>
          <a:p>
            <a:pPr algn="ctr" indent="0" marL="0">
              <a:buNone/>
            </a:pPr>
            <a:r>
              <a:rPr lang="en-US" sz="1200" b="1" dirty="0">
                <a:solidFill>
                  <a:srgbClr val="FCFCFE"/>
                </a:solidFill>
                <a:latin typeface="Be Vietnam Pro" pitchFamily="34" charset="0"/>
                <a:ea typeface="Be Vietnam Pro" pitchFamily="34" charset="-122"/>
                <a:cs typeface="Be Vietnam Pro" pitchFamily="34" charset="-120"/>
              </a:rPr>
              <a:t>3</a:t>
            </a:r>
            <a:endParaRPr lang="en-US" sz="1200" dirty="0"/>
          </a:p>
        </p:txBody>
      </p:sp>
      <p:sp>
        <p:nvSpPr>
          <p:cNvPr id="17" name="Text 12"/>
          <p:cNvSpPr/>
          <p:nvPr/>
        </p:nvSpPr>
        <p:spPr>
          <a:xfrm>
            <a:off x="5676900" y="4695192"/>
            <a:ext cx="1219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Đối chiếu</a:t>
            </a:r>
            <a:endParaRPr lang="en-US" sz="1200" dirty="0"/>
          </a:p>
        </p:txBody>
      </p:sp>
      <p:sp>
        <p:nvSpPr>
          <p:cNvPr id="18" name="Text 13"/>
          <p:cNvSpPr/>
          <p:nvPr/>
        </p:nvSpPr>
        <p:spPr>
          <a:xfrm>
            <a:off x="5676900" y="4921250"/>
            <a:ext cx="1219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FL-1 · số lệch</a:t>
            </a:r>
            <a:endParaRPr lang="en-US" sz="1200" dirty="0"/>
          </a:p>
        </p:txBody>
      </p:sp>
      <p:pic>
        <p:nvPicPr>
          <p:cNvPr id="19" name="Image 3" descr="Bước 4 của kịch bản demo: Mã hết hạn, FL-2 · quét lại">    </p:cNvPr>
          <p:cNvPicPr>
            <a:picLocks noChangeAspect="1"/>
          </p:cNvPicPr>
          <p:nvPr/>
        </p:nvPicPr>
        <p:blipFill>
          <a:blip r:embed="rId4"/>
          <a:srcRect l="355" r="355" t="0" b="0"/>
          <a:stretch/>
        </p:blipFill>
        <p:spPr>
          <a:xfrm>
            <a:off x="7143750" y="1615442"/>
            <a:ext cx="1333500" cy="2984500"/>
          </a:xfrm>
          <a:prstGeom prst="roundRect">
            <a:avLst>
              <a:gd name="adj" fmla="val 8095"/>
            </a:avLst>
          </a:prstGeom>
        </p:spPr>
      </p:pic>
      <p:sp>
        <p:nvSpPr>
          <p:cNvPr id="20" name="Shape 14"/>
          <p:cNvSpPr/>
          <p:nvPr/>
        </p:nvSpPr>
        <p:spPr>
          <a:xfrm>
            <a:off x="7140575" y="1612267"/>
            <a:ext cx="1339850" cy="2990850"/>
          </a:xfrm>
          <a:prstGeom prst="roundRect">
            <a:avLst>
              <a:gd name="adj" fmla="val 8294"/>
            </a:avLst>
          </a:prstGeom>
          <a:noFill/>
          <a:ln w="19050">
            <a:solidFill>
              <a:srgbClr val="C9CCD8"/>
            </a:solidFill>
            <a:prstDash val="solid"/>
          </a:ln>
        </p:spPr>
      </p:sp>
      <p:sp>
        <p:nvSpPr>
          <p:cNvPr id="21" name="Text 15"/>
          <p:cNvSpPr/>
          <p:nvPr/>
        </p:nvSpPr>
        <p:spPr>
          <a:xfrm>
            <a:off x="7137400" y="469519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4254BA"/>
          </a:solidFill>
          <a:ln/>
        </p:spPr>
        <p:txBody>
          <a:bodyPr wrap="square" lIns="0" tIns="0" rIns="0" bIns="0" rtlCol="0" anchor="ctr">
            <a:normAutofit/>
          </a:bodyPr>
          <a:lstStyle/>
          <a:p>
            <a:pPr algn="ctr" indent="0" marL="0">
              <a:buNone/>
            </a:pPr>
            <a:r>
              <a:rPr lang="en-US" sz="1200" b="1" dirty="0">
                <a:solidFill>
                  <a:srgbClr val="FCFCFE"/>
                </a:solidFill>
                <a:latin typeface="Be Vietnam Pro" pitchFamily="34" charset="0"/>
                <a:ea typeface="Be Vietnam Pro" pitchFamily="34" charset="-122"/>
                <a:cs typeface="Be Vietnam Pro" pitchFamily="34" charset="-120"/>
              </a:rPr>
              <a:t>4</a:t>
            </a:r>
            <a:endParaRPr lang="en-US" sz="1200" dirty="0"/>
          </a:p>
        </p:txBody>
      </p:sp>
      <p:sp>
        <p:nvSpPr>
          <p:cNvPr id="22" name="Text 16"/>
          <p:cNvSpPr/>
          <p:nvPr/>
        </p:nvSpPr>
        <p:spPr>
          <a:xfrm>
            <a:off x="7467600" y="4695192"/>
            <a:ext cx="1219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Mã hết hạn</a:t>
            </a:r>
            <a:endParaRPr lang="en-US" sz="1200" dirty="0"/>
          </a:p>
        </p:txBody>
      </p:sp>
      <p:sp>
        <p:nvSpPr>
          <p:cNvPr id="23" name="Text 17"/>
          <p:cNvSpPr/>
          <p:nvPr/>
        </p:nvSpPr>
        <p:spPr>
          <a:xfrm>
            <a:off x="7467600" y="4921250"/>
            <a:ext cx="1219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FL-2 · quét lại</a:t>
            </a:r>
            <a:endParaRPr lang="en-US" sz="1200" dirty="0"/>
          </a:p>
        </p:txBody>
      </p:sp>
      <p:pic>
        <p:nvPicPr>
          <p:cNvPr id="24" name="Image 4" descr="Bước 5 của kịch bản demo: Từ chối, FL-3 · báo sai">    </p:cNvPr>
          <p:cNvPicPr>
            <a:picLocks noChangeAspect="1"/>
          </p:cNvPicPr>
          <p:nvPr/>
        </p:nvPicPr>
        <p:blipFill>
          <a:blip r:embed="rId5"/>
          <a:srcRect l="355" r="355" t="0" b="0"/>
          <a:stretch/>
        </p:blipFill>
        <p:spPr>
          <a:xfrm>
            <a:off x="8934450" y="1615442"/>
            <a:ext cx="1333500" cy="2984500"/>
          </a:xfrm>
          <a:prstGeom prst="roundRect">
            <a:avLst>
              <a:gd name="adj" fmla="val 8095"/>
            </a:avLst>
          </a:prstGeom>
        </p:spPr>
      </p:pic>
      <p:sp>
        <p:nvSpPr>
          <p:cNvPr id="25" name="Shape 18"/>
          <p:cNvSpPr/>
          <p:nvPr/>
        </p:nvSpPr>
        <p:spPr>
          <a:xfrm>
            <a:off x="8931275" y="1612267"/>
            <a:ext cx="1339850" cy="2990850"/>
          </a:xfrm>
          <a:prstGeom prst="roundRect">
            <a:avLst>
              <a:gd name="adj" fmla="val 8294"/>
            </a:avLst>
          </a:prstGeom>
          <a:noFill/>
          <a:ln w="19050">
            <a:solidFill>
              <a:srgbClr val="C9CCD8"/>
            </a:solidFill>
            <a:prstDash val="solid"/>
          </a:ln>
        </p:spPr>
      </p:sp>
      <p:sp>
        <p:nvSpPr>
          <p:cNvPr id="26" name="Text 19"/>
          <p:cNvSpPr/>
          <p:nvPr/>
        </p:nvSpPr>
        <p:spPr>
          <a:xfrm>
            <a:off x="8928100" y="469519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4254BA"/>
          </a:solidFill>
          <a:ln/>
        </p:spPr>
        <p:txBody>
          <a:bodyPr wrap="square" lIns="0" tIns="0" rIns="0" bIns="0" rtlCol="0" anchor="ctr">
            <a:normAutofit/>
          </a:bodyPr>
          <a:lstStyle/>
          <a:p>
            <a:pPr algn="ctr" indent="0" marL="0">
              <a:buNone/>
            </a:pPr>
            <a:r>
              <a:rPr lang="en-US" sz="1200" b="1" dirty="0">
                <a:solidFill>
                  <a:srgbClr val="FCFCFE"/>
                </a:solidFill>
                <a:latin typeface="Be Vietnam Pro" pitchFamily="34" charset="0"/>
                <a:ea typeface="Be Vietnam Pro" pitchFamily="34" charset="-122"/>
                <a:cs typeface="Be Vietnam Pro" pitchFamily="34" charset="-120"/>
              </a:rPr>
              <a:t>5</a:t>
            </a:r>
            <a:endParaRPr lang="en-US" sz="1200" dirty="0"/>
          </a:p>
        </p:txBody>
      </p:sp>
      <p:sp>
        <p:nvSpPr>
          <p:cNvPr id="27" name="Text 20"/>
          <p:cNvSpPr/>
          <p:nvPr/>
        </p:nvSpPr>
        <p:spPr>
          <a:xfrm>
            <a:off x="9258300" y="4695192"/>
            <a:ext cx="1219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140"/>
                </a:solidFill>
                <a:latin typeface="Inter" pitchFamily="34" charset="0"/>
                <a:ea typeface="Inter" pitchFamily="34" charset="-122"/>
                <a:cs typeface="Inter" pitchFamily="34" charset="-120"/>
              </a:rPr>
              <a:t>Từ chối</a:t>
            </a:r>
            <a:endParaRPr lang="en-US" sz="1200" dirty="0"/>
          </a:p>
        </p:txBody>
      </p:sp>
      <p:sp>
        <p:nvSpPr>
          <p:cNvPr id="28" name="Text 21"/>
          <p:cNvSpPr/>
          <p:nvPr/>
        </p:nvSpPr>
        <p:spPr>
          <a:xfrm>
            <a:off x="9258300" y="4921250"/>
            <a:ext cx="1219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068"/>
                </a:solidFill>
                <a:latin typeface="Inter SemiBold" pitchFamily="34" charset="0"/>
                <a:ea typeface="Inter SemiBold" pitchFamily="34" charset="-122"/>
                <a:cs typeface="Inter SemiBold" pitchFamily="34" charset="-120"/>
              </a:rPr>
              <a:t>FL-3 · báo sai</a:t>
            </a:r>
            <a:endParaRPr lang="en-US" sz="1200" dirty="0"/>
          </a:p>
        </p:txBody>
      </p:sp>
      <p:sp>
        <p:nvSpPr>
          <p:cNvPr id="29" name="Text 22"/>
          <p:cNvSpPr/>
          <p:nvPr/>
        </p:nvSpPr>
        <p:spPr>
          <a:xfrm>
            <a:off x="3189764" y="5347971"/>
            <a:ext cx="5812393" cy="365760"/>
          </a:xfrm>
          <a:prstGeom prst="roundRect">
            <a:avLst>
              <a:gd name="adj" fmla="val 20833"/>
            </a:avLst>
          </a:prstGeom>
          <a:solidFill>
            <a:srgbClr val="ECEEF8"/>
          </a:solidFill>
          <a:ln/>
        </p:spPr>
        <p:txBody>
          <a:bodyPr wrap="none" lIns="0" tIns="0" rIns="0" bIns="0" rtlCol="0" anchor="ctr">
            <a:normAutofit/>
          </a:bodyPr>
          <a:lstStyle/>
          <a:p>
            <a:pPr algn="ctr" indent="0" marL="0">
              <a:buNone/>
            </a:pPr>
            <a:r>
              <a:rPr lang="en-US" sz="1200" b="1" dirty="0">
                <a:solidFill>
                  <a:srgbClr val="1B2140"/>
                </a:solidFill>
                <a:latin typeface="Inter" pitchFamily="34" charset="0"/>
                <a:ea typeface="Inter" pitchFamily="34" charset="-122"/>
                <a:cs typeface="Inter" pitchFamily="34" charset="-120"/>
              </a:rPr>
              <a:t>85</a:t>
            </a:r>
            <a:r>
              <a:rPr lang="en-US" sz="1200" dirty="0">
                <a:solidFill>
                  <a:srgbClr val="1B2140"/>
                </a:solidFill>
                <a:latin typeface="Inter SemiBold" pitchFamily="34" charset="0"/>
                <a:ea typeface="Inter SemiBold" pitchFamily="34" charset="-122"/>
                <a:cs typeface="Inter SemiBold" pitchFamily="34" charset="-120"/>
              </a:rPr>
              <a:t> frame · </a:t>
            </a:r>
            <a:r>
              <a:rPr lang="en-US" sz="1200" b="1" dirty="0">
                <a:solidFill>
                  <a:srgbClr val="1B2140"/>
                </a:solidFill>
                <a:latin typeface="Inter" pitchFamily="34" charset="0"/>
                <a:ea typeface="Inter" pitchFamily="34" charset="-122"/>
                <a:cs typeface="Inter" pitchFamily="34" charset="-120"/>
              </a:rPr>
              <a:t>12</a:t>
            </a:r>
            <a:r>
              <a:rPr lang="en-US" sz="1200" dirty="0">
                <a:solidFill>
                  <a:srgbClr val="1B2140"/>
                </a:solidFill>
                <a:latin typeface="Inter SemiBold" pitchFamily="34" charset="0"/>
                <a:ea typeface="Inter SemiBold" pitchFamily="34" charset="-122"/>
                <a:cs typeface="Inter SemiBold" pitchFamily="34" charset="-120"/>
              </a:rPr>
              <a:t> điểm bắt đầu · </a:t>
            </a:r>
            <a:r>
              <a:rPr lang="en-US" sz="1200" b="1" dirty="0">
                <a:solidFill>
                  <a:srgbClr val="1B2140"/>
                </a:solidFill>
                <a:latin typeface="Inter" pitchFamily="34" charset="0"/>
                <a:ea typeface="Inter" pitchFamily="34" charset="-122"/>
                <a:cs typeface="Inter" pitchFamily="34" charset="-120"/>
              </a:rPr>
              <a:t>184</a:t>
            </a:r>
            <a:r>
              <a:rPr lang="en-US" sz="1200" dirty="0">
                <a:solidFill>
                  <a:srgbClr val="1B2140"/>
                </a:solidFill>
                <a:latin typeface="Inter SemiBold" pitchFamily="34" charset="0"/>
                <a:ea typeface="Inter SemiBold" pitchFamily="34" charset="-122"/>
                <a:cs typeface="Inter SemiBold" pitchFamily="34" charset="-120"/>
              </a:rPr>
              <a:t> tương tác · </a:t>
            </a:r>
            <a:r>
              <a:rPr lang="en-US" sz="1200" b="1" dirty="0">
                <a:solidFill>
                  <a:srgbClr val="1B2140"/>
                </a:solidFill>
                <a:latin typeface="Inter" pitchFamily="34" charset="0"/>
                <a:ea typeface="Inter" pitchFamily="34" charset="-122"/>
                <a:cs typeface="Inter" pitchFamily="34" charset="-120"/>
              </a:rPr>
              <a:t>0</a:t>
            </a:r>
            <a:r>
              <a:rPr lang="en-US" sz="1200" dirty="0">
                <a:solidFill>
                  <a:srgbClr val="1B2140"/>
                </a:solidFill>
                <a:latin typeface="Inter SemiBold" pitchFamily="34" charset="0"/>
                <a:ea typeface="Inter SemiBold" pitchFamily="34" charset="-122"/>
                <a:cs typeface="Inter SemiBold" pitchFamily="34" charset="-120"/>
              </a:rPr>
              <a:t> link hỏng (</a:t>
            </a:r>
            <a:r>
              <a:rPr lang="en-US" sz="1200" dirty="0" u="sng">
                <a:solidFill>
                  <a:srgbClr val="4254BA"/>
                </a:solidFill>
                <a:latin typeface="Inter SemiBold" pitchFamily="34" charset="0"/>
                <a:ea typeface="Inter SemiBold" pitchFamily="34" charset="-122"/>
                <a:cs typeface="Inter SemiBold" pitchFamily="34" charset="-120"/>
                <a:hlinkClick r:id="rId8">
                  <a:extLst>
                    <a:ext uri="{A12FA001-AC4F-418D-AE19-62706E023703}">
                      <ahyp:hlinkClr xmlns:ahyp="http://schemas.microsoft.com/office/drawing/2018/hyperlinkcolor" val="tx"/>
                    </a:ext>
                  </a:extLst>
                </a:hlinkClick>
              </a:rPr>
              <a:t>script đọc trang 06</a:t>
            </a:r>
            <a:r>
              <a:rPr lang="en-US" sz="1200" dirty="0">
                <a:solidFill>
                  <a:srgbClr val="1B2140"/>
                </a:solidFill>
                <a:latin typeface="Inter SemiBold" pitchFamily="34" charset="0"/>
                <a:ea typeface="Inter SemiBold" pitchFamily="34" charset="-122"/>
                <a:cs typeface="Inter SemiBold" pitchFamily="34" charset="-120"/>
              </a:rPr>
              <a:t>)</a:t>
            </a:r>
            <a:endParaRPr lang="en-US" sz="1200" dirty="0"/>
          </a:p>
        </p:txBody>
      </p:sp>
      <p:sp>
        <p:nvSpPr>
          <p:cNvPr id="30" name="Text 23"/>
          <p:cNvSpPr/>
          <p:nvPr/>
        </p:nvSpPr>
        <p:spPr>
          <a:xfrm>
            <a:off x="812800" y="6238242"/>
            <a:ext cx="48983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9">
                  <a:extLst>
                    <a:ext uri="{A12FA001-AC4F-418D-AE19-62706E023703}">
                      <ahyp:hlinkClr xmlns:ahyp="http://schemas.microsoft.com/office/drawing/2018/hyperlinkcolor" val="tx"/>
                    </a:ext>
                  </a:extLst>
                </a:hlinkClick>
              </a:rPr>
              <a:t>Figma trang 06</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8">
                  <a:extLst>
                    <a:ext uri="{A12FA001-AC4F-418D-AE19-62706E023703}">
                      <ahyp:hlinkClr xmlns:ahyp="http://schemas.microsoft.com/office/drawing/2018/hyperlinkcolor" val="tx"/>
                    </a:ext>
                  </a:extLst>
                </a:hlinkClick>
              </a:rPr>
              <a:t>design/prototype-links.md</a:t>
            </a:r>
            <a:endParaRPr lang="en-US" sz="1200" dirty="0"/>
          </a:p>
        </p:txBody>
      </p:sp>
      <p:sp>
        <p:nvSpPr>
          <p:cNvPr id="31" name="Text 24"/>
          <p:cNvSpPr/>
          <p:nvPr/>
        </p:nvSpPr>
        <p:spPr>
          <a:xfrm>
            <a:off x="10875709" y="6238242"/>
            <a:ext cx="50349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254BA"/>
                </a:solidFill>
                <a:latin typeface="Inter" pitchFamily="34" charset="0"/>
                <a:ea typeface="Inter" pitchFamily="34" charset="-122"/>
                <a:cs typeface="Inter" pitchFamily="34" charset="-120"/>
              </a:rPr>
              <a:t>Bàn giao · Flutter handoff và tổng kết</a:t>
            </a:r>
            <a:endParaRPr lang="en-US" sz="1200" dirty="0"/>
          </a:p>
        </p:txBody>
      </p:sp>
      <p:sp>
        <p:nvSpPr>
          <p:cNvPr id="3" name="Text 1"/>
          <p:cNvSpPr/>
          <p:nvPr>
            <p:ph type="title"/>
          </p:nvPr>
        </p:nvSpPr>
        <p:spPr>
          <a:xfrm>
            <a:off x="812800" y="10007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140"/>
                </a:solidFill>
                <a:latin typeface="Be Vietnam Pro" pitchFamily="34" charset="0"/>
                <a:ea typeface="Be Vietnam Pro" pitchFamily="34" charset="-122"/>
                <a:cs typeface="Be Vietnam Pro" pitchFamily="34" charset="-120"/>
              </a:rPr>
              <a:t>Bàn giao cho Flutter, và những gì còn thiếu</a:t>
            </a:r>
            <a:endParaRPr lang="en-US" sz="2600" dirty="0"/>
          </a:p>
        </p:txBody>
      </p:sp>
      <p:sp>
        <p:nvSpPr>
          <p:cNvPr id="4" name="Text 2"/>
          <p:cNvSpPr/>
          <p:nvPr/>
        </p:nvSpPr>
        <p:spPr>
          <a:xfrm>
            <a:off x="812800" y="1634492"/>
            <a:ext cx="6278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Mỗi màn 6 mục, kèm bảng ánh xạ Figma → Flutter:</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85010"/>
          <a:ext cx="6085840" cy="2316480"/>
        </p:xfrm>
        <a:graphic>
          <a:graphicData uri="http://schemas.openxmlformats.org/drawingml/2006/table">
            <a:tbl>
              <a:tblPr/>
              <a:tblGrid>
                <a:gridCol w="2677770"/>
                <a:gridCol w="3408070"/>
              </a:tblGrid>
              <a:tr h="386080">
                <a:tc>
                  <a:txBody>
                    <a:bodyPr/>
                    <a:lstStyle/>
                    <a:p>
                      <a:pPr indent="0" marL="0">
                        <a:lnSpc>
                          <a:spcPts val="1680"/>
                        </a:lnSpc>
                        <a:buNone/>
                      </a:pPr>
                      <a:r>
                        <a:rPr lang="en-US" sz="1200" b="1" dirty="0">
                          <a:solidFill>
                            <a:srgbClr val="1B2140"/>
                          </a:solidFill>
                          <a:latin typeface="Inter" pitchFamily="34" charset="0"/>
                          <a:ea typeface="Inter" pitchFamily="34" charset="-122"/>
                          <a:cs typeface="Inter" pitchFamily="34" charset="-120"/>
                        </a:rPr>
                        <a:t>Figma</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B8B9BF"/>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8B9BF"/>
                      </a:solidFill>
                      <a:prstDash val="solid"/>
                      <a:round/>
                      <a:headEnd type="none" w="med" len="med"/>
                      <a:tailEnd type="none" w="med" len="med"/>
                    </a:lnB>
                    <a:solidFill>
                      <a:srgbClr val="E6E8F0"/>
                    </a:solidFill>
                  </a:tcPr>
                </a:tc>
                <a:tc>
                  <a:txBody>
                    <a:bodyPr/>
                    <a:lstStyle/>
                    <a:p>
                      <a:pPr indent="0" marL="0">
                        <a:lnSpc>
                          <a:spcPts val="1680"/>
                        </a:lnSpc>
                        <a:buNone/>
                      </a:pPr>
                      <a:r>
                        <a:rPr lang="en-US" sz="1200" b="1" dirty="0">
                          <a:solidFill>
                            <a:srgbClr val="1B2140"/>
                          </a:solidFill>
                          <a:latin typeface="Inter" pitchFamily="34" charset="0"/>
                          <a:ea typeface="Inter" pitchFamily="34" charset="-122"/>
                          <a:cs typeface="Inter" pitchFamily="34" charset="-120"/>
                        </a:rPr>
                        <a:t>Flutter</a:t>
                      </a:r>
                      <a:endParaRPr lang="en-US" sz="1200" dirty="0">
                        <a:latin typeface="Inter" charset="0"/>
                        <a:ea typeface="Inter" charset="0"/>
                        <a:cs typeface="Inter" charset="0"/>
                      </a:endParaRPr>
                    </a:p>
                  </a:txBody>
                  <a:tcPr marL="101600" marR="101600" marT="88900" marB="88900" anchor="t">
                    <a:lnL w="12700" cap="flat" cmpd="sng" algn="ctr">
                      <a:solidFill>
                        <a:srgbClr val="B8B9BF"/>
                      </a:solidFill>
                      <a:prstDash val="solid"/>
                      <a:round/>
                      <a:headEnd type="none" w="med" len="med"/>
                      <a:tailEnd type="none" w="med" len="med"/>
                    </a:lnL>
                    <a:lnR w="12700" cap="flat" cmpd="sng" algn="ctr">
                      <a:solidFill>
                        <a:srgbClr val="B8B9BF"/>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8B9BF"/>
                      </a:solidFill>
                      <a:prstDash val="solid"/>
                      <a:round/>
                      <a:headEnd type="none" w="med" len="med"/>
                      <a:tailEnd type="none" w="med" len="med"/>
                    </a:lnB>
                    <a:solidFill>
                      <a:srgbClr val="E6E8F0"/>
                    </a:solidFill>
                  </a:tcPr>
                </a:tc>
              </a:tr>
              <a:tr h="386080">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color/primary</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9BF"/>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ColorScheme.primary</a:t>
                      </a:r>
                      <a:endParaRPr lang="en-US" sz="1200" dirty="0">
                        <a:latin typeface="Inter" charset="0"/>
                        <a:ea typeface="Inter" charset="0"/>
                        <a:cs typeface="Inter" charset="0"/>
                      </a:endParaRPr>
                    </a:p>
                  </a:txBody>
                  <a:tcPr marL="101600" marR="101600" marT="88900" marB="8890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9BF"/>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r>
              <a:tr h="386080">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type/title-lg</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C4C6"/>
                      </a:solidFill>
                      <a:prstDash val="solid"/>
                      <a:round/>
                      <a:headEnd type="none" w="med" len="med"/>
                      <a:tailEnd type="none" w="med" len="med"/>
                    </a:lnB>
                    <a:solidFill>
                      <a:srgbClr val="F5F5F8"/>
                    </a:solidFill>
                  </a:tcPr>
                </a:tc>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textTheme.titleLarge</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C4C6"/>
                      </a:solidFill>
                      <a:prstDash val="solid"/>
                      <a:round/>
                      <a:headEnd type="none" w="med" len="med"/>
                      <a:tailEnd type="none" w="med" len="med"/>
                    </a:lnB>
                    <a:solidFill>
                      <a:srgbClr val="F5F5F8"/>
                    </a:solidFill>
                  </a:tcPr>
                </a:tc>
              </a:tr>
              <a:tr h="386080">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space/4 (16 dp)</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AppSpace.s4</a:t>
                      </a:r>
                      <a:endParaRPr lang="en-US" sz="1200" dirty="0">
                        <a:latin typeface="Inter" charset="0"/>
                        <a:ea typeface="Inter" charset="0"/>
                        <a:cs typeface="Inter" charset="0"/>
                      </a:endParaRPr>
                    </a:p>
                  </a:txBody>
                  <a:tcPr marL="101600" marR="101600" marT="88900" marB="8890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r>
              <a:tr h="386080">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CMP-04 Navigation bar</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C4C6"/>
                      </a:solidFill>
                      <a:prstDash val="solid"/>
                      <a:round/>
                      <a:headEnd type="none" w="med" len="med"/>
                      <a:tailEnd type="none" w="med" len="med"/>
                    </a:lnB>
                    <a:solidFill>
                      <a:srgbClr val="F5F5F8"/>
                    </a:solidFill>
                  </a:tcPr>
                </a:tc>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NavigationBar + Badge.count</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4C4C6"/>
                      </a:solidFill>
                      <a:prstDash val="solid"/>
                      <a:round/>
                      <a:headEnd type="none" w="med" len="med"/>
                      <a:tailEnd type="none" w="med" len="med"/>
                    </a:lnB>
                    <a:solidFill>
                      <a:srgbClr val="F5F5F8"/>
                    </a:solidFill>
                  </a:tcPr>
                </a:tc>
              </a:tr>
              <a:tr h="386080">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CMP-14 Scan counter</a:t>
                      </a:r>
                      <a:endParaRPr lang="en-US" sz="1200" dirty="0">
                        <a:latin typeface="Inter" charset="0"/>
                        <a:ea typeface="Inter" charset="0"/>
                        <a:cs typeface="Inter" charset="0"/>
                      </a:endParaRPr>
                    </a:p>
                  </a:txBody>
                  <a:tcPr marL="101600" marR="101600" marT="88900" marB="88900" anchor="t">
                    <a:lnL w="12700" cap="flat" cmpd="sng" algn="ctr">
                      <a:solidFill>
                        <a:srgbClr val="C4C4C6"/>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c>
                  <a:txBody>
                    <a:bodyPr/>
                    <a:lstStyle/>
                    <a:p>
                      <a:pPr indent="0" marL="0">
                        <a:lnSpc>
                          <a:spcPts val="1680"/>
                        </a:lnSpc>
                        <a:buNone/>
                      </a:pPr>
                      <a:r>
                        <a:rPr lang="en-US" sz="1200" dirty="0">
                          <a:solidFill>
                            <a:srgbClr val="1B2140"/>
                          </a:solidFill>
                          <a:latin typeface="Inter SemiBold" pitchFamily="34" charset="0"/>
                          <a:ea typeface="Inter SemiBold" pitchFamily="34" charset="-122"/>
                          <a:cs typeface="Inter SemiBold" pitchFamily="34" charset="-120"/>
                        </a:rPr>
                        <a:t>ScanCounter (LinearProgressIndicator)</a:t>
                      </a:r>
                      <a:endParaRPr lang="en-US" sz="1200" dirty="0">
                        <a:latin typeface="Inter" charset="0"/>
                        <a:ea typeface="Inter" charset="0"/>
                        <a:cs typeface="Inter" charset="0"/>
                      </a:endParaRPr>
                    </a:p>
                  </a:txBody>
                  <a:tcPr marL="101600" marR="101600" marT="88900" marB="8890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E"/>
                    </a:solidFill>
                  </a:tcPr>
                </a:tc>
              </a:tr>
            </a:tbl>
          </a:graphicData>
        </a:graphic>
      </p:graphicFrame>
      <p:sp>
        <p:nvSpPr>
          <p:cNvPr id="6" name="Shape 3"/>
          <p:cNvSpPr/>
          <p:nvPr/>
        </p:nvSpPr>
        <p:spPr>
          <a:xfrm>
            <a:off x="7267575" y="1637667"/>
            <a:ext cx="4108450" cy="2660650"/>
          </a:xfrm>
          <a:prstGeom prst="roundRect">
            <a:avLst>
              <a:gd name="adj" fmla="val 3699"/>
            </a:avLst>
          </a:prstGeom>
          <a:solidFill>
            <a:srgbClr val="FCFCFE"/>
          </a:solidFill>
          <a:ln w="19050">
            <a:solidFill>
              <a:srgbClr val="C9CCDB"/>
            </a:solidFill>
            <a:prstDash val="solid"/>
          </a:ln>
        </p:spPr>
      </p:sp>
      <p:sp>
        <p:nvSpPr>
          <p:cNvPr id="60" name="Shape 60"/>
          <p:cNvSpPr/>
          <p:nvPr/>
        </p:nvSpPr>
        <p:spPr>
          <a:xfrm>
            <a:off x="7472680" y="2582545"/>
            <a:ext cx="3808730" cy="0"/>
          </a:xfrm>
          <a:prstGeom prst="line">
            <a:avLst/>
          </a:prstGeom>
          <a:noFill/>
          <a:ln w="19050">
            <a:solidFill>
              <a:srgbClr val="C9CCDB"/>
            </a:solidFill>
            <a:prstDash val="solid"/>
          </a:ln>
        </p:spPr>
      </p:sp>
      <p:sp>
        <p:nvSpPr>
          <p:cNvPr id="61" name="Shape 61"/>
          <p:cNvSpPr/>
          <p:nvPr/>
        </p:nvSpPr>
        <p:spPr>
          <a:xfrm>
            <a:off x="7472680" y="3140075"/>
            <a:ext cx="3808730" cy="0"/>
          </a:xfrm>
          <a:prstGeom prst="line">
            <a:avLst/>
          </a:prstGeom>
          <a:noFill/>
          <a:ln w="19050">
            <a:solidFill>
              <a:srgbClr val="C9CCDB"/>
            </a:solidFill>
            <a:prstDash val="solid"/>
          </a:ln>
        </p:spPr>
      </p:sp>
      <p:sp>
        <p:nvSpPr>
          <p:cNvPr id="62" name="Shape 62"/>
          <p:cNvSpPr/>
          <p:nvPr/>
        </p:nvSpPr>
        <p:spPr>
          <a:xfrm>
            <a:off x="7472680" y="3697605"/>
            <a:ext cx="3808730" cy="0"/>
          </a:xfrm>
          <a:prstGeom prst="line">
            <a:avLst/>
          </a:prstGeom>
          <a:noFill/>
          <a:ln w="19050">
            <a:solidFill>
              <a:srgbClr val="C9CCDB"/>
            </a:solidFill>
            <a:prstDash val="solid"/>
          </a:ln>
        </p:spPr>
      </p:sp>
      <p:sp>
        <p:nvSpPr>
          <p:cNvPr id="7" name="Text 4"/>
          <p:cNvSpPr/>
          <p:nvPr/>
        </p:nvSpPr>
        <p:spPr>
          <a:xfrm>
            <a:off x="7472680" y="1842771"/>
            <a:ext cx="380918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A3412"/>
                </a:solidFill>
                <a:latin typeface="Be Vietnam Pro" pitchFamily="34" charset="0"/>
                <a:ea typeface="Be Vietnam Pro" pitchFamily="34" charset="-122"/>
                <a:cs typeface="Be Vietnam Pro" pitchFamily="34" charset="-120"/>
              </a:rPr>
              <a:t>Giới hạn, nói trước</a:t>
            </a:r>
            <a:endParaRPr lang="en-US" sz="1400" dirty="0"/>
          </a:p>
        </p:txBody>
      </p:sp>
      <p:sp>
        <p:nvSpPr>
          <p:cNvPr id="8" name="Text 5"/>
          <p:cNvSpPr/>
          <p:nvPr/>
        </p:nvSpPr>
        <p:spPr>
          <a:xfrm>
            <a:off x="7472680" y="2184400"/>
            <a:ext cx="38091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Persona mô phỏng, chưa thử với người thật</a:t>
            </a:r>
            <a:endParaRPr lang="en-US" sz="1200" dirty="0"/>
          </a:p>
        </p:txBody>
      </p:sp>
      <p:sp>
        <p:nvSpPr>
          <p:cNvPr id="9" name="Text 6"/>
          <p:cNvSpPr/>
          <p:nvPr/>
        </p:nvSpPr>
        <p:spPr>
          <a:xfrm>
            <a:off x="7472680" y="2741930"/>
            <a:ext cx="38091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9 nút ngoài kịch bản demo</a:t>
            </a:r>
            <a:endParaRPr lang="en-US" sz="1200" dirty="0"/>
          </a:p>
        </p:txBody>
      </p:sp>
      <p:sp>
        <p:nvSpPr>
          <p:cNvPr id="10" name="Text 7"/>
          <p:cNvSpPr/>
          <p:nvPr/>
        </p:nvSpPr>
        <p:spPr>
          <a:xfrm>
            <a:off x="7472680" y="3299460"/>
            <a:ext cx="38091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App desktop, extension FAP: ngoài phạm vi</a:t>
            </a:r>
            <a:endParaRPr lang="en-US" sz="1200" dirty="0"/>
          </a:p>
        </p:txBody>
      </p:sp>
      <p:sp>
        <p:nvSpPr>
          <p:cNvPr id="11" name="Text 8"/>
          <p:cNvSpPr/>
          <p:nvPr/>
        </p:nvSpPr>
        <p:spPr>
          <a:xfrm>
            <a:off x="7472680" y="3856990"/>
            <a:ext cx="38091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68"/>
                </a:solidFill>
                <a:latin typeface="Inter SemiBold" pitchFamily="34" charset="0"/>
                <a:ea typeface="Inter SemiBold" pitchFamily="34" charset="-122"/>
                <a:cs typeface="Inter SemiBold" pitchFamily="34" charset="-120"/>
              </a:rPr>
              <a:t>Chỉ đo theme Light</a:t>
            </a:r>
            <a:endParaRPr lang="en-US" sz="1200" dirty="0"/>
          </a:p>
        </p:txBody>
      </p:sp>
      <p:sp>
        <p:nvSpPr>
          <p:cNvPr id="12" name="Shape 9"/>
          <p:cNvSpPr/>
          <p:nvPr/>
        </p:nvSpPr>
        <p:spPr>
          <a:xfrm>
            <a:off x="812800" y="4555492"/>
            <a:ext cx="10566400" cy="883920"/>
          </a:xfrm>
          <a:prstGeom prst="roundRect">
            <a:avLst>
              <a:gd name="adj" fmla="val 11494"/>
            </a:avLst>
          </a:prstGeom>
          <a:solidFill>
            <a:srgbClr val="1B2140"/>
          </a:solidFill>
          <a:ln/>
        </p:spPr>
      </p:sp>
      <p:sp>
        <p:nvSpPr>
          <p:cNvPr id="13" name="Text 10"/>
          <p:cNvSpPr/>
          <p:nvPr/>
        </p:nvSpPr>
        <p:spPr>
          <a:xfrm>
            <a:off x="1066800" y="4758692"/>
            <a:ext cx="79391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3F5"/>
                </a:solidFill>
                <a:latin typeface="Inter" pitchFamily="34" charset="0"/>
                <a:ea typeface="Inter" pitchFamily="34" charset="-122"/>
                <a:cs typeface="Inter" pitchFamily="34" charset="-120"/>
              </a:rPr>
              <a:t>Đề nghị với hội đồng</a:t>
            </a:r>
            <a:endParaRPr lang="en-US" sz="1200" dirty="0"/>
          </a:p>
        </p:txBody>
      </p:sp>
      <p:sp>
        <p:nvSpPr>
          <p:cNvPr id="14" name="Text 11"/>
          <p:cNvSpPr/>
          <p:nvPr/>
        </p:nvSpPr>
        <p:spPr>
          <a:xfrm>
            <a:off x="1066800" y="5022850"/>
            <a:ext cx="7939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8"/>
                </a:solidFill>
                <a:latin typeface="Inter SemiBold" pitchFamily="34" charset="0"/>
                <a:ea typeface="Inter SemiBold" pitchFamily="34" charset="-122"/>
                <a:cs typeface="Inter SemiBold" pitchFamily="34" charset="-120"/>
              </a:rPr>
              <a:t>Cho nhóm thử prototype với 2–3 giảng viên thật: đo TC-1, và hỏi có chịu thêm 40 giây đối chiếu.</a:t>
            </a:r>
            <a:endParaRPr lang="en-US" sz="1200" dirty="0"/>
          </a:p>
        </p:txBody>
      </p:sp>
      <p:sp>
        <p:nvSpPr>
          <p:cNvPr id="15" name="Text 12"/>
          <p:cNvSpPr/>
          <p:nvPr/>
        </p:nvSpPr>
        <p:spPr>
          <a:xfrm>
            <a:off x="9079468" y="4819650"/>
            <a:ext cx="2107104"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F5F5F8"/>
                </a:solidFill>
                <a:latin typeface="Be Vietnam Pro" pitchFamily="34" charset="0"/>
                <a:ea typeface="Be Vietnam Pro" pitchFamily="34" charset="-122"/>
                <a:cs typeface="Be Vietnam Pro" pitchFamily="34" charset="-120"/>
              </a:rPr>
              <a:t>Cảm ơn, mời hỏi</a:t>
            </a:r>
            <a:endParaRPr lang="en-US" sz="2000" dirty="0"/>
          </a:p>
        </p:txBody>
      </p:sp>
      <p:sp>
        <p:nvSpPr>
          <p:cNvPr id="16" name="Text 13"/>
          <p:cNvSpPr/>
          <p:nvPr/>
        </p:nvSpPr>
        <p:spPr>
          <a:xfrm>
            <a:off x="812800" y="6238242"/>
            <a:ext cx="8746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Bằng chứng: </a:t>
            </a:r>
            <a:r>
              <a:rPr lang="en-US" sz="1200" dirty="0" u="sng">
                <a:solidFill>
                  <a:srgbClr val="4254BA"/>
                </a:solidFill>
                <a:latin typeface="Inter Medium" pitchFamily="34" charset="0"/>
                <a:ea typeface="Inter Medium" pitchFamily="34" charset="-122"/>
                <a:cs typeface="Inter Medium" pitchFamily="34" charset="-120"/>
                <a:hlinkClick r:id="rId3">
                  <a:extLst>
                    <a:ext uri="{A12FA001-AC4F-418D-AE19-62706E023703}">
                      <ahyp:hlinkClr xmlns:ahyp="http://schemas.microsoft.com/office/drawing/2018/hyperlinkcolor" val="tx"/>
                    </a:ext>
                  </a:extLst>
                </a:hlinkClick>
              </a:rPr>
              <a:t>handoff/flutter-handoff.md</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4">
                  <a:extLst>
                    <a:ext uri="{A12FA001-AC4F-418D-AE19-62706E023703}">
                      <ahyp:hlinkClr xmlns:ahyp="http://schemas.microsoft.com/office/drawing/2018/hyperlinkcolor" val="tx"/>
                    </a:ext>
                  </a:extLst>
                </a:hlinkClick>
              </a:rPr>
              <a:t>README.md</a:t>
            </a:r>
            <a:r>
              <a:rPr lang="en-US" sz="1200" dirty="0">
                <a:solidFill>
                  <a:srgbClr val="6B7085"/>
                </a:solidFill>
                <a:latin typeface="Inter Medium" pitchFamily="34" charset="0"/>
                <a:ea typeface="Inter Medium" pitchFamily="34" charset="-122"/>
                <a:cs typeface="Inter Medium" pitchFamily="34" charset="-120"/>
              </a:rPr>
              <a:t> · </a:t>
            </a:r>
            <a:r>
              <a:rPr lang="en-US" sz="1200" dirty="0" u="sng">
                <a:solidFill>
                  <a:srgbClr val="4254BA"/>
                </a:solidFill>
                <a:latin typeface="Inter Medium" pitchFamily="34" charset="0"/>
                <a:ea typeface="Inter Medium" pitchFamily="34" charset="-122"/>
                <a:cs typeface="Inter Medium" pitchFamily="34" charset="-120"/>
                <a:hlinkClick r:id="rId5">
                  <a:extLst>
                    <a:ext uri="{A12FA001-AC4F-418D-AE19-62706E023703}">
                      <ahyp:hlinkClr xmlns:ahyp="http://schemas.microsoft.com/office/drawing/2018/hyperlinkcolor" val="tx"/>
                    </a:ext>
                  </a:extLst>
                </a:hlinkClick>
              </a:rPr>
              <a:t>github.com/thiengthb/prm323-lab2-SE190533</a:t>
            </a:r>
            <a:endParaRPr lang="en-US" sz="1200" dirty="0"/>
          </a:p>
        </p:txBody>
      </p:sp>
      <p:sp>
        <p:nvSpPr>
          <p:cNvPr id="17" name="Text 14"/>
          <p:cNvSpPr/>
          <p:nvPr/>
        </p:nvSpPr>
        <p:spPr>
          <a:xfrm>
            <a:off x="10838561" y="6238242"/>
            <a:ext cx="54063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085"/>
                </a:solidFill>
                <a:latin typeface="Inter Medium" pitchFamily="34" charset="0"/>
                <a:ea typeface="Inter Medium" pitchFamily="34" charset="-122"/>
                <a:cs typeface="Inter Medium" pitchFamily="34" charset="-120"/>
              </a:rPr>
              <a:t>12 / 12</a:t>
            </a:r>
            <a:endParaRPr lang="en-US" sz="1200" dirty="0"/>
          </a:p>
        </p:txBody>
      </p:sp>
    </p:spTree>
  </p:cSld>
  <p:clrMapOvr>
    <a:masterClrMapping/>
  </p:clrMapOvr>
</p:sld>
</file>

<file path=ppt/theme/theme1.xml><?xml version="1.0" encoding="utf-8"?>
<a:theme xmlns:a="http://schemas.openxmlformats.org/drawingml/2006/main" name="PRM323 Lab 2 · Điểm danh FAP · SE190533">
  <a:themeElements>
    <a:clrScheme name="PRM323 Lab 2 · Điểm danh FAP · SE190533">
      <a:dk1>
        <a:srgbClr val="1B2140"/>
      </a:dk1>
      <a:lt1>
        <a:srgbClr val="F5F5F8"/>
      </a:lt1>
      <a:dk2>
        <a:srgbClr val="52566E"/>
      </a:dk2>
      <a:lt2>
        <a:srgbClr val="DFE0E6"/>
      </a:lt2>
      <a:accent1>
        <a:srgbClr val="4254BA"/>
      </a:accent1>
      <a:accent2>
        <a:srgbClr val="9A3412"/>
      </a:accent2>
      <a:accent3>
        <a:srgbClr val="A9B3F5"/>
      </a:accent3>
      <a:accent4>
        <a:srgbClr val="0D6E45"/>
      </a:accent4>
      <a:accent5>
        <a:srgbClr val="FFF4D2"/>
      </a:accent5>
      <a:accent6>
        <a:srgbClr val="9FD9BC"/>
      </a:accent6>
      <a:hlink>
        <a:srgbClr val="0563C1"/>
      </a:hlink>
      <a:folHlink>
        <a:srgbClr val="954F72"/>
      </a:folHlink>
    </a:clrScheme>
    <a:fontScheme name="PRM323 Lab 2 · Điểm danh FAP · SE190533">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PRM323 Lab 2 · Điểm danh FAP · SE190533</dc:title>
  <dc:subject/>
  <dc:creator/>
  <cp:lastModifiedBy/>
  <cp:revision>1</cp:revision>
  <dcterms:created xsi:type="dcterms:W3CDTF">2026-10-16T01:59:34Z</dcterms:created>
  <dcterms:modified xsi:type="dcterms:W3CDTF">2026-10-16T01:59:34Z</dcterms:modified>
</cp:coreProperties>
</file>